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303004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350" spc="243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2 DE 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6770021" y="952500"/>
            <a:ext cx="52742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6759" y="2942129"/>
            <a:ext cx="149123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CONSTRUYENDO UN FLUJO AGÉNTICO END-TO-END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66759" y="3561254"/>
            <a:ext cx="14912340" cy="2744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100" b="1" spc="-388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</a:t>
            </a:r>
            <a:pPr algn="l" indent="0" marL="0">
              <a:lnSpc>
                <a:spcPct val="96000"/>
              </a:lnSpc>
              <a:buNone/>
            </a:pPr>
            <a:r>
              <a:rPr lang="en-US" sz="11100" b="1" spc="-388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100" dirty="0"/>
          </a:p>
        </p:txBody>
      </p:sp>
      <p:sp>
        <p:nvSpPr>
          <p:cNvPr id="7" name="Text 5"/>
          <p:cNvSpPr/>
          <p:nvPr/>
        </p:nvSpPr>
        <p:spPr>
          <a:xfrm>
            <a:off x="1066759" y="6648761"/>
            <a:ext cx="14912340" cy="50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spc="-31" kern="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GitHub Copilot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66759" y="8906822"/>
            <a:ext cx="1962461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FACILITADOR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66759" y="9134529"/>
            <a:ext cx="19624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Patricio Renner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86983" y="8906822"/>
            <a:ext cx="272004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86983" y="9134529"/>
            <a:ext cx="272004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Consulting · EY Chile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6264721" y="8906822"/>
            <a:ext cx="95651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264721" y="9134529"/>
            <a:ext cx="9565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02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66759" y="762000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6759" y="9553683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BIENVENIDA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471612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Bienvenida y objetivos del día.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2543270"/>
            <a:ext cx="4316730" cy="1455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sesión de la serie. En la primera se introdujeron las herramientas de GitHub Copilot. Hoy se orquestan en un flujo de desarrollo completo.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66759" y="4303230"/>
            <a:ext cx="4191000" cy="18556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7" name="Shape 5"/>
          <p:cNvSpPr/>
          <p:nvPr/>
        </p:nvSpPr>
        <p:spPr>
          <a:xfrm>
            <a:off x="1066759" y="6150187"/>
            <a:ext cx="4191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6759" y="4303230"/>
            <a:ext cx="4191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6759" y="4303230"/>
            <a:ext cx="25977" cy="185561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Shape 8"/>
          <p:cNvSpPr/>
          <p:nvPr/>
        </p:nvSpPr>
        <p:spPr>
          <a:xfrm>
            <a:off x="5249100" y="4303230"/>
            <a:ext cx="9525" cy="18556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59410" y="4540475"/>
            <a:ext cx="373170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ESPERADO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359410" y="4778600"/>
            <a:ext cx="373170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cierre, cada participante dispondrá de una aplicación funcional construida íntegramente vía pipeline agéntico, en su propio repositorio.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19759" y="2543270"/>
            <a:ext cx="11537525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19759" y="2885304"/>
            <a:ext cx="11201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19759" y="3103472"/>
            <a:ext cx="838200" cy="700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86519" y="3103472"/>
            <a:ext cx="10438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de las especificaciones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086519" y="3489208"/>
            <a:ext cx="10438763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Comprender el rol de las especificaciones en el desarrollo asistido por agentes.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19759" y="3974929"/>
            <a:ext cx="11201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19759" y="4193097"/>
            <a:ext cx="838200" cy="700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86519" y="4193097"/>
            <a:ext cx="10438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 un flujo agéntico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086519" y="4578832"/>
            <a:ext cx="10438763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→ tests → código → documentación → revisión, end-to-end.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19759" y="6154178"/>
            <a:ext cx="11201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019759" y="5064553"/>
            <a:ext cx="11201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19759" y="5282722"/>
            <a:ext cx="838200" cy="700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519" y="5282722"/>
            <a:ext cx="10438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Calidad, seguridad y gobernanza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086519" y="5668457"/>
            <a:ext cx="10438763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controles operativos al output agéntico en un contexto profesional.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4860420" y="9783961"/>
            <a:ext cx="2437020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la sesión.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352770"/>
            <a:ext cx="90233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759" y="2532852"/>
            <a:ext cx="2552700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9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 – 14:10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066759" y="2797766"/>
            <a:ext cx="25527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8019" y="2654079"/>
            <a:ext cx="865801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INICIO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89965" y="2532852"/>
            <a:ext cx="1067936" cy="33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848019" y="2971150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62278" y="2906207"/>
            <a:ext cx="3003776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Recepción y acomodación de remotos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66759" y="3334764"/>
            <a:ext cx="90233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6759" y="3514847"/>
            <a:ext cx="2552700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9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14:10 – 15:25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066759" y="3779761"/>
            <a:ext cx="25527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MIN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8019" y="3636074"/>
            <a:ext cx="1012532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6696" y="3514847"/>
            <a:ext cx="2117648" cy="33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3848019" y="3953145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62278" y="3888202"/>
            <a:ext cx="323864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81365" y="3953145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95624" y="3888202"/>
            <a:ext cx="1353213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business-analyst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944060" y="3953145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58319" y="3888202"/>
            <a:ext cx="724211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77753" y="3953145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2013" y="3888202"/>
            <a:ext cx="976543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TUC + ADR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66759" y="4431019"/>
            <a:ext cx="25527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15:25 – 15:40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8019" y="4431019"/>
            <a:ext cx="165533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PAUSA ·15 MIN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79498" y="4502050"/>
            <a:ext cx="451064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6759" y="4696812"/>
            <a:ext cx="90233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66759" y="4876895"/>
            <a:ext cx="2552700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9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15:40 – 16:55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066759" y="5141809"/>
            <a:ext cx="25527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MIN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8019" y="4998122"/>
            <a:ext cx="1012532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BLOQUE02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6696" y="4876895"/>
            <a:ext cx="2660469" cy="33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desarrollo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3848019" y="5315194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62278" y="5250250"/>
            <a:ext cx="505028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62529" y="5315194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76788" y="5250250"/>
            <a:ext cx="505096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277107" y="5315194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91366" y="5250250"/>
            <a:ext cx="981616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68205" y="5315194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2465" y="5250250"/>
            <a:ext cx="843544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+ run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66759" y="5793067"/>
            <a:ext cx="25527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16:55 – 17:10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48019" y="5793067"/>
            <a:ext cx="165533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PAUSA ·15 MIN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579498" y="5864098"/>
            <a:ext cx="451064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66759" y="7040855"/>
            <a:ext cx="90233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66759" y="6058860"/>
            <a:ext cx="90233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66759" y="6238942"/>
            <a:ext cx="2552700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9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17:10 – 18:10</a:t>
            </a:r>
            <a:endParaRPr lang="en-US" sz="1425" dirty="0"/>
          </a:p>
        </p:txBody>
      </p:sp>
      <p:sp>
        <p:nvSpPr>
          <p:cNvPr id="47" name="Text 45"/>
          <p:cNvSpPr/>
          <p:nvPr/>
        </p:nvSpPr>
        <p:spPr>
          <a:xfrm>
            <a:off x="1066759" y="6503857"/>
            <a:ext cx="25527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MIN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848019" y="6360170"/>
            <a:ext cx="1012532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BLOQUE03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36696" y="6238942"/>
            <a:ext cx="2800732" cy="33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y gobernanza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3848019" y="6677241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962278" y="6612298"/>
            <a:ext cx="1152971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code-reviewer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5210473" y="6677241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24732" y="6612298"/>
            <a:ext cx="829270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6249225" y="6677241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63484" y="6612298"/>
            <a:ext cx="981887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7440594" y="6677241"/>
            <a:ext cx="114300" cy="20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554853" y="6612298"/>
            <a:ext cx="438326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0775900" y="2352770"/>
            <a:ext cx="66386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REGLAS DEL JUEGO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0775900" y="3352827"/>
            <a:ext cx="644527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775900" y="2723379"/>
            <a:ext cx="1790700" cy="53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 híbrido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2718986" y="2694804"/>
            <a:ext cx="4637252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presencial y Teams, con moderador dedicado para participantes remotos.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0775900" y="4190932"/>
            <a:ext cx="644527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775900" y="3561484"/>
            <a:ext cx="1790700" cy="53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2718986" y="3532909"/>
            <a:ext cx="4637252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actividades prácticas; cada participante trabaja sobre su propio repositorio.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10775900" y="5029038"/>
            <a:ext cx="644527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775900" y="4399589"/>
            <a:ext cx="1790700" cy="53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asistencia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2718986" y="4371014"/>
            <a:ext cx="4637252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 disponibles en sala. En Teams, levantar la mano para asistencia 1:1.</a:t>
            </a:r>
            <a:endParaRPr lang="en-US" sz="1425" dirty="0"/>
          </a:p>
        </p:txBody>
      </p:sp>
      <p:sp>
        <p:nvSpPr>
          <p:cNvPr id="68" name="Text 66"/>
          <p:cNvSpPr/>
          <p:nvPr/>
        </p:nvSpPr>
        <p:spPr>
          <a:xfrm>
            <a:off x="10775900" y="5237694"/>
            <a:ext cx="1790700" cy="53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2718986" y="5209119"/>
            <a:ext cx="4637252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Disponibles al cierre de cada bloque para incorporarse sin saltar contenido.</a:t>
            </a:r>
            <a:endParaRPr lang="en-US" sz="1425" dirty="0"/>
          </a:p>
        </p:txBody>
      </p:sp>
      <p:sp>
        <p:nvSpPr>
          <p:cNvPr id="70" name="Text 68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14860420" y="9783961"/>
            <a:ext cx="2437020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RECAPITULACIÓN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1305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Workshop 1 entregó las piezas. El Workshop 2 las ensambla en un flujo gobernado.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3139056"/>
            <a:ext cx="16154480" cy="3753445"/>
          </a:xfrm>
          <a:prstGeom prst="rect">
            <a:avLst/>
          </a:prstGeom>
          <a:solidFill>
            <a:srgbClr val="FFFFFF">
              <a:alpha val="8000"/>
            </a:srgbClr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5418" y="3147715"/>
            <a:ext cx="5372695" cy="186332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1380178" y="3452474"/>
            <a:ext cx="490607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380178" y="3746004"/>
            <a:ext cx="4906072" cy="388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 instructions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80178" y="4191947"/>
            <a:ext cx="4906072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globales del proyecto, persistentes en cada interacción.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57584" y="3147715"/>
            <a:ext cx="5372763" cy="186332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6762344" y="3452474"/>
            <a:ext cx="4906141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762344" y="3746004"/>
            <a:ext cx="4906141" cy="388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762344" y="4191947"/>
            <a:ext cx="4906141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acotadas a una tarea específica y reutilizable.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39818" y="3147715"/>
            <a:ext cx="5372695" cy="186332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44577" y="3452474"/>
            <a:ext cx="490607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144577" y="3746004"/>
            <a:ext cx="4906072" cy="388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144577" y="4191947"/>
            <a:ext cx="4906072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especializados con instrucciones, restricciones y herramientas.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75418" y="5020514"/>
            <a:ext cx="5372695" cy="186332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1380178" y="5325273"/>
            <a:ext cx="490607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80178" y="5618803"/>
            <a:ext cx="4906072" cy="388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80178" y="6064746"/>
            <a:ext cx="4906072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empaquetadas y reutilizables a nivel de agente.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57584" y="5020514"/>
            <a:ext cx="5372763" cy="186332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6762344" y="5325273"/>
            <a:ext cx="4906141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762344" y="5618803"/>
            <a:ext cx="4906141" cy="388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762344" y="6064746"/>
            <a:ext cx="4906141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para conectar Copilot con datos y herramientas externas.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839818" y="5020514"/>
            <a:ext cx="5372695" cy="186332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12144577" y="5325273"/>
            <a:ext cx="490607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2144577" y="5618803"/>
            <a:ext cx="4906072" cy="388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144577" y="6064746"/>
            <a:ext cx="4906072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información ve el modelo en cada interacción y por qué importa.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66759" y="7235347"/>
            <a:ext cx="16154480" cy="750703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2091" y="7579072"/>
            <a:ext cx="11115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15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AHÍ, HOY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2548885" y="7492481"/>
            <a:ext cx="11266336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piezas existen y están operativas; el objetivo de esta sesión es orquestarlas en un pipeline de desarrollo trazable.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860420" y="9783961"/>
            <a:ext cx="2437020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del entorno.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2505115"/>
            <a:ext cx="838679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REPOSITORIO TEMPLATE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66759" y="2828072"/>
            <a:ext cx="83867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↗ </a:t>
            </a:r>
            <a:pPr algn="l" indent="0" marL="0">
              <a:buNone/>
            </a:pPr>
            <a:r>
              <a:rPr lang="en-US" sz="120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github.com/patriciorenner/spec-driven-workshop-2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6759" y="3247159"/>
            <a:ext cx="8142522" cy="1735471"/>
          </a:xfrm>
          <a:prstGeom prst="roundRect">
            <a:avLst>
              <a:gd name="adj" fmla="val 4391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2091" y="3465327"/>
            <a:ext cx="7466412" cy="68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clone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https://github.com/patriciorenner/spec-driven-workshop-2.git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workshop-2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42091" y="4114894"/>
            <a:ext cx="7466412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cd workshop-2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42091" y="4439678"/>
            <a:ext cx="7466412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code 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752176" y="3361418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7426" y="3456668"/>
            <a:ext cx="152346" cy="15234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6759" y="5134976"/>
            <a:ext cx="83867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· WINDOWS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9818868" y="2505115"/>
            <a:ext cx="762444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VERIFICACIÓN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818868" y="2828072"/>
            <a:ext cx="740237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818868" y="3036729"/>
            <a:ext cx="476209" cy="565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0409377" y="3008154"/>
            <a:ext cx="7016219" cy="293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0409377" y="3301684"/>
            <a:ext cx="7016219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abre sin errores.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9818868" y="3735450"/>
            <a:ext cx="740237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818868" y="3944108"/>
            <a:ext cx="476209" cy="565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10409377" y="3915533"/>
            <a:ext cx="7016219" cy="293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Enterprise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0409377" y="4209062"/>
            <a:ext cx="7016219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activo en la barra de estado.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9818868" y="5550207"/>
            <a:ext cx="740237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9818868" y="4642829"/>
            <a:ext cx="740237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818868" y="4851486"/>
            <a:ext cx="476209" cy="565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10409377" y="4822911"/>
            <a:ext cx="7016219" cy="293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0409377" y="5116440"/>
            <a:ext cx="7016219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material/, .github/agents/, .github/prompts/, docs/ presentes.</a:t>
            </a:r>
            <a:endParaRPr lang="en-US" sz="1425" dirty="0"/>
          </a:p>
        </p:txBody>
      </p:sp>
      <p:sp>
        <p:nvSpPr>
          <p:cNvPr id="28" name="Shape 25"/>
          <p:cNvSpPr/>
          <p:nvPr/>
        </p:nvSpPr>
        <p:spPr>
          <a:xfrm>
            <a:off x="9818868" y="5825539"/>
            <a:ext cx="7402373" cy="757535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9" name="Shape 26"/>
          <p:cNvSpPr/>
          <p:nvPr/>
        </p:nvSpPr>
        <p:spPr>
          <a:xfrm>
            <a:off x="9818868" y="6574415"/>
            <a:ext cx="740237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9818868" y="5825539"/>
            <a:ext cx="740237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9818868" y="5825539"/>
            <a:ext cx="25977" cy="75753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2" name="Shape 29"/>
          <p:cNvSpPr/>
          <p:nvPr/>
        </p:nvSpPr>
        <p:spPr>
          <a:xfrm>
            <a:off x="17212582" y="5825539"/>
            <a:ext cx="9525" cy="75753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0054354" y="5986543"/>
            <a:ext cx="715717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ALGO FALLA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4354" y="6173526"/>
            <a:ext cx="715717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 disponibles en sala. Participantes remotos: levantar mano en Teams.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14860420" y="9783961"/>
            <a:ext cx="2437020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2 · BLOQUE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759" y="3879475"/>
            <a:ext cx="4100865" cy="3006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8500" b="1" spc="-1425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5962528" y="3708188"/>
            <a:ext cx="11596473" cy="970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962528" y="5107578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53037" y="5059953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qué es una spec en spec-driven development y qué la distingue.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962528" y="5587616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53037" y="5539991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los agentes business-analyst y architect.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962528" y="6067655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53037" y="6020030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el caso de uso de negocio y validar la arquitectura del Explorador SAP.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962528" y="6823904"/>
            <a:ext cx="1636663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14:10 – 15:25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13491" y="6823904"/>
            <a:ext cx="196277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24068" y="6823904"/>
            <a:ext cx="796393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MIN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5304770" cy="1305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development: la especificación es un contrato que precede al código.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3177210"/>
            <a:ext cx="5232391" cy="3048000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0178" y="3490628"/>
            <a:ext cx="474372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PROMPT-DRIVEN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80178" y="3813585"/>
            <a:ext cx="4743720" cy="38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directa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80178" y="4308777"/>
            <a:ext cx="4743720" cy="63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formula la necesidad en lenguaje natural y se acepta lo que el modelo entregue.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527736" y="3177210"/>
            <a:ext cx="5232459" cy="3048000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41155" y="3490628"/>
            <a:ext cx="474379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TEST-DRIVEN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41155" y="3813585"/>
            <a:ext cx="4743790" cy="38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primero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841155" y="4308777"/>
            <a:ext cx="4743790" cy="63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escribe el test antes que el código y luego se implementa hasta hacerlo pasar.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1988781" y="3177210"/>
            <a:ext cx="5232391" cy="3048000"/>
          </a:xfrm>
          <a:prstGeom prst="rect">
            <a:avLst/>
          </a:prstGeom>
          <a:solidFill>
            <a:srgbClr val="17171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02200" y="3490628"/>
            <a:ext cx="474372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SPEC-DRIVEN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302200" y="3813585"/>
            <a:ext cx="4743720" cy="38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como contrato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02200" y="4308777"/>
            <a:ext cx="4743720" cy="938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spec documenta el comportamiento esperado. Los tests verifican la spec y el código satisface los tests.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066759" y="6684953"/>
            <a:ext cx="1191193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AGENTES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66759" y="6607022"/>
            <a:ext cx="15095316" cy="586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spec, cada agente improvisa y los outputs no son verificables ni reproducibles. La spec es la fuente de verdad compartida entre el humano y la cadena de agentes.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niveles, tres audiencias, tres preguntas.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999495"/>
            <a:ext cx="1615448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759" y="2676538"/>
            <a:ext cx="19812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52759" y="2676538"/>
            <a:ext cx="313944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81759" y="2676538"/>
            <a:ext cx="353187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91759" y="2676538"/>
            <a:ext cx="6828365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QUE RESPONDE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66759" y="3918171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6759" y="3274827"/>
            <a:ext cx="1981200" cy="41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Negocio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352759" y="3370077"/>
            <a:ext cx="3139440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funcional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781759" y="3391725"/>
            <a:ext cx="35318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uso (UC)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591759" y="3370077"/>
            <a:ext cx="6828365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necesita el negocio?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66759" y="4836846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66759" y="4193503"/>
            <a:ext cx="1981200" cy="41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Técnico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3352759" y="4288753"/>
            <a:ext cx="3139440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81759" y="4310401"/>
            <a:ext cx="35318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uso técnico (TUC)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591759" y="4288753"/>
            <a:ext cx="6828365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entrega el componente esa necesidad?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66759" y="5755522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66759" y="5112178"/>
            <a:ext cx="1981200" cy="41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Decisional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352759" y="5207428"/>
            <a:ext cx="3139440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 / squad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781759" y="5229076"/>
            <a:ext cx="35318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 + tech-stack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591759" y="5207428"/>
            <a:ext cx="6828365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esta opción y no otra?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66759" y="6223924"/>
            <a:ext cx="58302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06923" y="6145992"/>
            <a:ext cx="10522378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nivel responde a una pregunta distinta. Mezclar niveles produce documentos largos y poco accionables.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LEY EMPÍRICA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5697200" cy="1305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del output agéntico está acotada por la calidad de la spec.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2910469"/>
            <a:ext cx="1663911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garbage spec in → garbage code out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66759" y="3643853"/>
            <a:ext cx="804488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SÍNTOMAS DE UNA SPEC DÉBIL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66759" y="3985888"/>
            <a:ext cx="78105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66759" y="4194518"/>
            <a:ext cx="419046" cy="29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61951" y="4146893"/>
            <a:ext cx="7534837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aceptación ambiguos, no medibles.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66759" y="4603118"/>
            <a:ext cx="78105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6759" y="4811748"/>
            <a:ext cx="419046" cy="29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61951" y="4764123"/>
            <a:ext cx="7534837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 implícitas.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66759" y="5220349"/>
            <a:ext cx="78105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759" y="5428979"/>
            <a:ext cx="419046" cy="29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61951" y="5381354"/>
            <a:ext cx="7534837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de excepción no contemplados.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66759" y="6454811"/>
            <a:ext cx="78105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6759" y="5837580"/>
            <a:ext cx="78105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759" y="6046210"/>
            <a:ext cx="419046" cy="29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61951" y="5998585"/>
            <a:ext cx="7534837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no funcionales ausentes — latencia, seguridad, volumen.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10673" y="3643853"/>
            <a:ext cx="804488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CONSECUENCIAS AGUAS ABAJO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10673" y="3985888"/>
            <a:ext cx="78105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410673" y="4175468"/>
            <a:ext cx="1695450" cy="31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258509" y="4146893"/>
            <a:ext cx="6141613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dispone de criterios verificables.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410673" y="4603118"/>
            <a:ext cx="78105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410673" y="4792698"/>
            <a:ext cx="1695450" cy="31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258509" y="4764123"/>
            <a:ext cx="6141613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Llena vacíos con suposiciones propias.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410673" y="5837580"/>
            <a:ext cx="78105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410673" y="5220349"/>
            <a:ext cx="78105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410673" y="5409929"/>
            <a:ext cx="1695450" cy="31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58509" y="5381354"/>
            <a:ext cx="6141613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 contra qué auditar.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DEL WORKSHOP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Explorador de diccionario SAP.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2505115"/>
            <a:ext cx="8005586" cy="10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 liviana que permite explorar el diccionario de datos de SAP: buscar tablas por nombre, visualizar sus campos y filtrar por tipo y descripción.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759" y="3876499"/>
            <a:ext cx="8005586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JUSTIFICACIÓN DEL CASO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66759" y="4199456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66759" y="4350950"/>
            <a:ext cx="457200" cy="28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81096" y="4322375"/>
            <a:ext cx="7475819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Relevancia para múltiples engagements de EY.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66759" y="4712845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6759" y="4864339"/>
            <a:ext cx="457200" cy="28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81096" y="4835764"/>
            <a:ext cx="7475819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real disponible — parquet con DDIC.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66759" y="5226234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759" y="5377728"/>
            <a:ext cx="457200" cy="28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81096" y="5349153"/>
            <a:ext cx="7475819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acotado al tiempo del bloque agéntico.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66759" y="6253013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6759" y="5739624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759" y="5891118"/>
            <a:ext cx="457200" cy="28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81096" y="5862543"/>
            <a:ext cx="7475819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moderno y conocido por Copilot.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759" y="6604518"/>
            <a:ext cx="8005586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66759" y="6889389"/>
            <a:ext cx="2135954" cy="364494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8768" y="6974248"/>
            <a:ext cx="1928136" cy="23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Buscador de tablas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355059" y="6889389"/>
            <a:ext cx="1827339" cy="364494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7069" y="6974248"/>
            <a:ext cx="1619521" cy="23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 de campos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334744" y="6889389"/>
            <a:ext cx="3164830" cy="364494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76753" y="6974248"/>
            <a:ext cx="2975757" cy="23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Filtros por categoría y tipo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448759" y="2505115"/>
            <a:ext cx="7772481" cy="5334000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86005" y="2766174"/>
            <a:ext cx="95250" cy="95250"/>
          </a:xfrm>
          <a:prstGeom prst="ellipse">
            <a:avLst/>
          </a:prstGeom>
          <a:solidFill>
            <a:srgbClr val="6B6B66"/>
          </a:solidFill>
          <a:ln/>
        </p:spPr>
      </p:sp>
      <p:sp>
        <p:nvSpPr>
          <p:cNvPr id="29" name="Shape 27"/>
          <p:cNvSpPr/>
          <p:nvPr/>
        </p:nvSpPr>
        <p:spPr>
          <a:xfrm>
            <a:off x="9838351" y="2766174"/>
            <a:ext cx="95250" cy="95250"/>
          </a:xfrm>
          <a:prstGeom prst="ellipse">
            <a:avLst/>
          </a:prstGeom>
          <a:solidFill>
            <a:srgbClr val="6B6B66"/>
          </a:solidFill>
          <a:ln/>
        </p:spPr>
      </p:sp>
      <p:sp>
        <p:nvSpPr>
          <p:cNvPr id="30" name="Shape 28"/>
          <p:cNvSpPr/>
          <p:nvPr/>
        </p:nvSpPr>
        <p:spPr>
          <a:xfrm>
            <a:off x="9990696" y="2766174"/>
            <a:ext cx="95250" cy="95250"/>
          </a:xfrm>
          <a:prstGeom prst="ellipse">
            <a:avLst/>
          </a:prstGeom>
          <a:solidFill>
            <a:srgbClr val="6B6B66"/>
          </a:solidFill>
          <a:ln/>
        </p:spPr>
      </p:sp>
      <p:sp>
        <p:nvSpPr>
          <p:cNvPr id="31" name="Text 29"/>
          <p:cNvSpPr/>
          <p:nvPr/>
        </p:nvSpPr>
        <p:spPr>
          <a:xfrm>
            <a:off x="10276379" y="2742361"/>
            <a:ext cx="26100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localhost:8501 / explorador-sap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9686005" y="3056659"/>
            <a:ext cx="7297990" cy="478821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66114" y="3198668"/>
            <a:ext cx="7156712" cy="23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 tabla…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686005" y="3951048"/>
            <a:ext cx="729799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686005" y="3744989"/>
            <a:ext cx="121920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43263" y="3744989"/>
            <a:ext cx="512319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DESCRIPCIÓN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031495" y="3744989"/>
            <a:ext cx="102870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686005" y="4361408"/>
            <a:ext cx="729799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686005" y="4073967"/>
            <a:ext cx="12192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43263" y="4073967"/>
            <a:ext cx="512319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 Material Data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6031495" y="4073967"/>
            <a:ext cx="10287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86005" y="4771768"/>
            <a:ext cx="729799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686005" y="4484327"/>
            <a:ext cx="12192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943263" y="4484327"/>
            <a:ext cx="512319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 Descriptions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6031495" y="4484327"/>
            <a:ext cx="10287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86005" y="5182127"/>
            <a:ext cx="729799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686005" y="4894686"/>
            <a:ext cx="12192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943263" y="4894686"/>
            <a:ext cx="512319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 Data for Material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6031495" y="4894686"/>
            <a:ext cx="10287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686005" y="5592487"/>
            <a:ext cx="729799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686005" y="5305046"/>
            <a:ext cx="12192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MBEW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943263" y="5305046"/>
            <a:ext cx="512319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 Valuation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6031495" y="5305046"/>
            <a:ext cx="10287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86005" y="6002847"/>
            <a:ext cx="729799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686005" y="5715406"/>
            <a:ext cx="12192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EKKO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943263" y="5715406"/>
            <a:ext cx="512319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Purchasing Document Header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6031495" y="5715406"/>
            <a:ext cx="10287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686005" y="7580222"/>
            <a:ext cx="1549531" cy="154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MOCKUP · REFERENCIA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858156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543473" y="952500"/>
            <a:ext cx="1753966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06 · AGENTES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@business-analyst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66759" y="2428943"/>
            <a:ext cx="47091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066759" y="2686077"/>
            <a:ext cx="4709160" cy="1295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casos de uso de negocio con criterios de aceptación medibles. Foco exclusivo en negocio y funcionalidad — sin decisiones tecnológicas.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759" y="4286385"/>
            <a:ext cx="4572000" cy="503851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5918" y="4447444"/>
            <a:ext cx="4310842" cy="21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</a:t>
            </a:r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material/agents/BUSINESS-ANALYST.md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6172105" y="2428943"/>
            <a:ext cx="54156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COMPORTAMIENTO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172105" y="2714652"/>
            <a:ext cx="457200" cy="27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686441" y="2686077"/>
            <a:ext cx="4885865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la descripción inicial en lenguaje natural.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6172105" y="3072245"/>
            <a:ext cx="457200" cy="53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686441" y="3043670"/>
            <a:ext cx="4885865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Conduce una conversación estructurada siguiendo el template UC.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6172105" y="3692182"/>
            <a:ext cx="457200" cy="27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686441" y="3663607"/>
            <a:ext cx="4885865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a una hasta cubrir todas las secciones.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6172105" y="4049775"/>
            <a:ext cx="457200" cy="27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686441" y="4021200"/>
            <a:ext cx="4885865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 criterios de aceptación de forma autónoma.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6172105" y="4407369"/>
            <a:ext cx="457200" cy="53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686441" y="4378794"/>
            <a:ext cx="4885865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el UC al usuario y solicita aprobación antes de guardar.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1963345" y="2428943"/>
            <a:ext cx="54156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RESTRICCIONES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1963345" y="2695602"/>
            <a:ext cx="304786" cy="30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06192" y="2686077"/>
            <a:ext cx="5062500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propone soluciones tecnológicas.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963345" y="3105150"/>
            <a:ext cx="304786" cy="30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306192" y="3095625"/>
            <a:ext cx="5062500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decide por el usuario.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963345" y="3514698"/>
            <a:ext cx="304786" cy="30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306192" y="3505173"/>
            <a:ext cx="5062500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únicamente en docs/uc/.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caso de uso.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2467029"/>
            <a:ext cx="8005586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SECCIONES CLAVE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66759" y="2789986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66759" y="2970068"/>
            <a:ext cx="8005586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Encabezado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759" y="3285245"/>
            <a:ext cx="8005586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actores, estado.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6759" y="3732880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66759" y="3912962"/>
            <a:ext cx="8005586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6759" y="4228139"/>
            <a:ext cx="8005586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Descripción, precondiciones, postcondiciones.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66759" y="4675774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6759" y="4855856"/>
            <a:ext cx="8005586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759" y="5171033"/>
            <a:ext cx="8005586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principal, alternativos y de excepción.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66759" y="5618668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66759" y="5798750"/>
            <a:ext cx="8005586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aceptación (CA-N)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6759" y="6113927"/>
            <a:ext cx="8005586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Verificables de forma binaria — pasa o no pasa.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66759" y="7504455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6759" y="6561561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66759" y="6741643"/>
            <a:ext cx="8005586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 (RN-N)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6759" y="7056820"/>
            <a:ext cx="8005586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del dominio que el sistema debe respetar.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6759" y="7779787"/>
            <a:ext cx="800558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</a:t>
            </a:r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material/templates/uc-template.md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48759" y="2467029"/>
            <a:ext cx="8005655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PIEZA MÁS IMPORTANTE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48759" y="2789986"/>
            <a:ext cx="8005655" cy="666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criterios de aceptación. Cada CA debe ser verificable de forma binaria. Si no se puede testear, no es un criterio.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448759" y="3723477"/>
            <a:ext cx="7772481" cy="2216457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6" name="Shape 24"/>
          <p:cNvSpPr/>
          <p:nvPr/>
        </p:nvSpPr>
        <p:spPr>
          <a:xfrm>
            <a:off x="9448759" y="5931274"/>
            <a:ext cx="7772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448759" y="3723477"/>
            <a:ext cx="7772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448759" y="3723477"/>
            <a:ext cx="25977" cy="221645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9" name="Shape 27"/>
          <p:cNvSpPr/>
          <p:nvPr/>
        </p:nvSpPr>
        <p:spPr>
          <a:xfrm>
            <a:off x="17212581" y="3723477"/>
            <a:ext cx="9525" cy="2216457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817582" y="4036895"/>
            <a:ext cx="72637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BIEN FORMULADO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9817582" y="4313107"/>
            <a:ext cx="726371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CA-1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817582" y="4597977"/>
            <a:ext cx="7263717" cy="10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"Dado un nombre parcial de tabla, el sistema retorna todas las tablas cuya descripción o nombre contenga el término, en menos de 1 segundo."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759" y="952500"/>
            <a:ext cx="1144488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09" y="1047750"/>
            <a:ext cx="953988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248" y="1355148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248" y="952500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009" y="952500"/>
            <a:ext cx="9525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598" y="1056409"/>
            <a:ext cx="844261" cy="24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01/ 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774" y="952500"/>
            <a:ext cx="185266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759" y="1706653"/>
            <a:ext cx="13735050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del agente business-analyst y generación del UC.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759" y="3350865"/>
            <a:ext cx="43167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759" y="3673822"/>
            <a:ext cx="4316730" cy="1833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el agente business-analyst y, mediante conversación estructurada, producir el caso de uso del Explorador SAP con criterios de aceptación medibles.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759" y="5812076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DURACIÓN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66759" y="6050201"/>
            <a:ext cx="43167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943519" y="3350865"/>
            <a:ext cx="11616053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519" y="375003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355" y="3765622"/>
            <a:ext cx="3647536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el agente a la ubicación activa: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648355" y="4130116"/>
            <a:ext cx="10572885" cy="1085904"/>
          </a:xfrm>
          <a:prstGeom prst="roundRect">
            <a:avLst>
              <a:gd name="adj" fmla="val 7017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3687" y="4348284"/>
            <a:ext cx="9969687" cy="68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material\agents\BUSINESS-ANALYST.md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.github\agents\business-analyst.md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6764135" y="4244375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385" y="4339625"/>
            <a:ext cx="152346" cy="15234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519" y="536840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48355" y="5349356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Reiniciar el panel de Copilot Chat para que cargue el agente.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5943519" y="5805622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648355" y="5786572"/>
            <a:ext cx="10890071" cy="363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Invocar al agente con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@business-analyst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chat.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5943519" y="6264487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48355" y="6245437"/>
            <a:ext cx="10890071" cy="64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el prompt inicial: necesidad de una aplicación para explorar el diccionario SAP, usuarios consultores funcionales.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5943519" y="7005583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48355" y="6986533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las preguntas del agente, sección por sección.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5943519" y="7442800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648355" y="7423750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los criterios de aceptación propuestos y aprobar o solicitar ajustes.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5943519" y="788001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648355" y="7860966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el guardado en docs/uc/UC-001-explorador-sap.md.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5943519" y="8469605"/>
            <a:ext cx="11277721" cy="85542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5" name="Shape 32"/>
          <p:cNvSpPr/>
          <p:nvPr/>
        </p:nvSpPr>
        <p:spPr>
          <a:xfrm>
            <a:off x="5943519" y="9316369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943519" y="8469605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943519" y="8469605"/>
            <a:ext cx="25977" cy="85542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8" name="Shape 35"/>
          <p:cNvSpPr/>
          <p:nvPr/>
        </p:nvSpPr>
        <p:spPr>
          <a:xfrm>
            <a:off x="17212580" y="8469605"/>
            <a:ext cx="9525" cy="85542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6179005" y="8649687"/>
            <a:ext cx="111487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6179005" y="8868735"/>
            <a:ext cx="11148788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UC final debe contener todas las secciones del template y al menos cuatro criterios de aceptación medibles.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858156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543473" y="952500"/>
            <a:ext cx="1753966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06 · AGENTES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@architect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66759" y="2428943"/>
            <a:ext cx="45129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066759" y="2686077"/>
            <a:ext cx="4512945" cy="1295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 técnico. Analiza el contexto, presenta opciones con recomendación y redacta documentos. Las decisiones las toma el usuario.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759" y="4286385"/>
            <a:ext cx="4381500" cy="503851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5918" y="4447444"/>
            <a:ext cx="4114627" cy="21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</a:t>
            </a:r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material/agents/ARCHITECT.md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81605" y="2428943"/>
            <a:ext cx="55137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5981605" y="2686077"/>
            <a:ext cx="535314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81605" y="2828072"/>
            <a:ext cx="551373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tecnológico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981605" y="3143250"/>
            <a:ext cx="5513739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no está definido o requiere actualización.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5981605" y="3538930"/>
            <a:ext cx="535314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81605" y="3680925"/>
            <a:ext cx="551373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981605" y="3996103"/>
            <a:ext cx="5513739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hay una decisión de arquitectura concreta a registrar.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5981605" y="5244635"/>
            <a:ext cx="535314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81605" y="4391783"/>
            <a:ext cx="535314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81605" y="4533778"/>
            <a:ext cx="551373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TUC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81605" y="4848955"/>
            <a:ext cx="5513739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 UC de negocio no tiene cobertura técnica.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1868095" y="2428943"/>
            <a:ext cx="55137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COMPORTAMIENTO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1868095" y="2714652"/>
            <a:ext cx="457200" cy="27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2382431" y="2686077"/>
            <a:ext cx="4983972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docs/uc/, docs/architecture/, docs/tuc/.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868095" y="3091255"/>
            <a:ext cx="457200" cy="53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2382431" y="3062680"/>
            <a:ext cx="4983972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brechas: UCs sin TUC, decisiones sin ADR, stack ausente.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1868095" y="3730201"/>
            <a:ext cx="457200" cy="27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2382431" y="3701626"/>
            <a:ext cx="4983972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el análisis y trabaja sobre la brecha prioritaria.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1868095" y="4106804"/>
            <a:ext cx="457200" cy="53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2382431" y="4078229"/>
            <a:ext cx="4983972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Conduce conversación estructurada, redacta y solicita aprobación.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ADR, TUC y tech-stack.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428943"/>
            <a:ext cx="5232391" cy="3619500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0178" y="2742361"/>
            <a:ext cx="474372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TECH-STACK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80178" y="3027232"/>
            <a:ext cx="4743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80178" y="3604374"/>
            <a:ext cx="2667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5928" y="3575799"/>
            <a:ext cx="4449398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por capa: frontend, backend, base de datos, infra, auth.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380178" y="4261450"/>
            <a:ext cx="2667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65928" y="4232875"/>
            <a:ext cx="444939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elegida + justificación.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80178" y="4647118"/>
            <a:ext cx="2667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65928" y="4618543"/>
            <a:ext cx="444939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ADRs asociados al cierre.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6527736" y="2428943"/>
            <a:ext cx="5232459" cy="3619500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1155" y="2742361"/>
            <a:ext cx="474379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41155" y="3027232"/>
            <a:ext cx="47437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41155" y="3604374"/>
            <a:ext cx="2667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26905" y="3575799"/>
            <a:ext cx="4449468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· Drivers · Opciones · Decisión · Consecuencias.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6841155" y="4261450"/>
            <a:ext cx="2667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26905" y="4232875"/>
            <a:ext cx="4449468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Estado: Propuesto / Aceptado / Rechazado / Deprecado / Supersedido.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1988781" y="2428943"/>
            <a:ext cx="5232391" cy="3619500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02200" y="2742361"/>
            <a:ext cx="474372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302200" y="3027232"/>
            <a:ext cx="4743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 técnico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302200" y="3604374"/>
            <a:ext cx="2667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587950" y="3575799"/>
            <a:ext cx="444939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interfaz, flujos, manejo de errores.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2302200" y="3990041"/>
            <a:ext cx="2667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587950" y="3961466"/>
            <a:ext cx="444939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funcionales, dependencias.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2302200" y="4375709"/>
            <a:ext cx="2667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587950" y="4347134"/>
            <a:ext cx="4449398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técnicos (TAC-N) verificables vía test, contrato o métrica.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1066759" y="6353202"/>
            <a:ext cx="16154480" cy="750703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2091" y="6692597"/>
            <a:ext cx="8292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spc="15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CONEXIÓN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2228431" y="6614666"/>
            <a:ext cx="1254716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UC define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3406946" y="6601677"/>
            <a:ext cx="441844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3772590" y="6614666"/>
            <a:ext cx="327162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el negocio. El TUC define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6948920" y="6601677"/>
            <a:ext cx="616378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7489099" y="6614666"/>
            <a:ext cx="2977019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implementa. El ADR justifica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10379408" y="6601677"/>
            <a:ext cx="818243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1121451" y="6614666"/>
            <a:ext cx="1844008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eligió ese cómo.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Artefactos técnicos pre-armados.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2467029"/>
            <a:ext cx="8005586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ARCHIVOS INCLUIDOS · ESTADO: DRAFT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66759" y="2789986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66759" y="2953629"/>
            <a:ext cx="4572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81096" y="2931982"/>
            <a:ext cx="64555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docs/architecture/tech-stack.md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23" y="2964453"/>
            <a:ext cx="93345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126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66759" y="3260148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6759" y="3423791"/>
            <a:ext cx="4572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81096" y="3402143"/>
            <a:ext cx="64555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docs/architecture/adr/ADR-001-duckdb-como-motor.md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05723" y="3434615"/>
            <a:ext cx="93345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126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66759" y="3730309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759" y="3893952"/>
            <a:ext cx="4572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81096" y="3872305"/>
            <a:ext cx="64555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docs/architecture/adr/ADR-002-streamlit-como-frontend.md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905723" y="3904776"/>
            <a:ext cx="93345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126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66759" y="4200471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66759" y="4364114"/>
            <a:ext cx="4572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81096" y="4342466"/>
            <a:ext cx="64555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docs/tuc/TUC-001-buscar-tablas.md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05723" y="4374938"/>
            <a:ext cx="93345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126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66759" y="5140794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6759" y="4670632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66759" y="4834276"/>
            <a:ext cx="4572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81096" y="4812628"/>
            <a:ext cx="64555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docs/tuc/TUC-002-detalle-de-tabla.md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905723" y="4845099"/>
            <a:ext cx="93345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126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48759" y="2467029"/>
            <a:ext cx="8005655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 DEL ARCHITECT EN HO2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48759" y="2818561"/>
            <a:ext cx="4762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82105" y="2789986"/>
            <a:ext cx="74563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los drafts y el UC generado en HO1.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48759" y="3237647"/>
            <a:ext cx="47620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82105" y="3209072"/>
            <a:ext cx="745630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inconsistencias: TACs que no cubren ACs, decisiones no documentadas, supuestos del draft no alineados con el UC.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48759" y="3942484"/>
            <a:ext cx="4762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82105" y="3913909"/>
            <a:ext cx="74563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 ajustes y solicita aprobación uno a uno.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448759" y="4542505"/>
            <a:ext cx="7772481" cy="1488687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5" name="Shape 33"/>
          <p:cNvSpPr/>
          <p:nvPr/>
        </p:nvSpPr>
        <p:spPr>
          <a:xfrm>
            <a:off x="9448759" y="6022533"/>
            <a:ext cx="7772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448759" y="4542505"/>
            <a:ext cx="7772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448759" y="4542505"/>
            <a:ext cx="25977" cy="148868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8" name="Shape 36"/>
          <p:cNvSpPr/>
          <p:nvPr/>
        </p:nvSpPr>
        <p:spPr>
          <a:xfrm>
            <a:off x="17212581" y="4542505"/>
            <a:ext cx="9525" cy="1488687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722332" y="4760673"/>
            <a:ext cx="74599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VALIDAR EN VEZ DE CREAR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9722332" y="4998798"/>
            <a:ext cx="7459932" cy="852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desde cero llevaría más de 30 minutos. Validar drafts heredados refleja con mayor fidelidad cómo trabaja un arquitecto en consulting: recibe artefactos previos y los alinea con el contexto del engagement.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759" y="952500"/>
            <a:ext cx="1144488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09" y="1047750"/>
            <a:ext cx="953988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248" y="1355148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248" y="952500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009" y="952500"/>
            <a:ext cx="9525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598" y="1056409"/>
            <a:ext cx="844261" cy="24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02/ 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774" y="952500"/>
            <a:ext cx="185266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759" y="1706653"/>
            <a:ext cx="13735050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del agente architect y validación de los drafts contra el UC.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759" y="3350865"/>
            <a:ext cx="43167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759" y="3673822"/>
            <a:ext cx="4316730" cy="1474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el agente architect, identificar brechas entre los drafts técnicos y el UC, y dejar los artefactos en estado aprobado.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759" y="5452994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DURACIÓN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66759" y="5691119"/>
            <a:ext cx="43167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943519" y="3350865"/>
            <a:ext cx="11616053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519" y="375003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355" y="3765622"/>
            <a:ext cx="3647536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el agente a la ubicación activa: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648355" y="4130116"/>
            <a:ext cx="10572885" cy="761121"/>
          </a:xfrm>
          <a:prstGeom prst="roundRect">
            <a:avLst>
              <a:gd name="adj" fmla="val 10012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3687" y="4348284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material\agents\ARCHITECT.md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.github\agents\architect.md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6764135" y="4244375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385" y="4339625"/>
            <a:ext cx="152346" cy="15234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519" y="5043622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48355" y="5024572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Reiniciar el panel de Copilot Chat.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5943519" y="5480839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648355" y="5461789"/>
            <a:ext cx="10890071" cy="363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Invocar al agente con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@architect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5943519" y="5939703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48355" y="5920653"/>
            <a:ext cx="10890071" cy="64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la revisión de los drafts en docs/architecture/ y docs/tuc/ contra el UC en docs/uc/UC-001-explorador-sap.md.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5943519" y="6680800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48355" y="6661750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el análisis de brechas que presenta el agente.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5943519" y="711801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648355" y="7098966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ajuste propuesto: aprobar, modificar o rechazar.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5943519" y="7555232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648355" y="7536182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que los archivos actualizados queden con estado aprobado.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5943519" y="8144822"/>
            <a:ext cx="11277721" cy="85542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5" name="Shape 32"/>
          <p:cNvSpPr/>
          <p:nvPr/>
        </p:nvSpPr>
        <p:spPr>
          <a:xfrm>
            <a:off x="5943519" y="8991586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943519" y="8144822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943519" y="8144822"/>
            <a:ext cx="25977" cy="85542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8" name="Shape 35"/>
          <p:cNvSpPr/>
          <p:nvPr/>
        </p:nvSpPr>
        <p:spPr>
          <a:xfrm>
            <a:off x="17212580" y="8144822"/>
            <a:ext cx="9525" cy="85542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6179005" y="8324904"/>
            <a:ext cx="111487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6179005" y="8543952"/>
            <a:ext cx="11148788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mínima: cada AC del UC debe tener al menos un TAC asociado en algún TUC.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 DEL BLOQUE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para specs sólidas.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4492986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759" y="4009024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105" y="3883467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binarios — pasa o no pasa, sin grises.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759" y="5377836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759" y="4893875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81105" y="4768318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funcionales explícitos — latencia, seguridad, volumen.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66759" y="6262687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759" y="5778725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81105" y="5653168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de excepción documentados — qué hace el sistema cuando algo falla.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66759" y="7147538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759" y="6663576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81105" y="6538020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decisión, un ADR — cero decisiones implícitas.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66759" y="7548427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981105" y="7422870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— cada TAC referencia un AC; cada AC referencia una regla de negocio.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4483140" y="9783961"/>
            <a:ext cx="282024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2 · PAUSA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759" y="3177954"/>
            <a:ext cx="744979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66759" y="3639456"/>
            <a:ext cx="3055547" cy="278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0" b="1" spc="-96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0" dirty="0"/>
          </a:p>
        </p:txBody>
      </p:sp>
      <p:sp>
        <p:nvSpPr>
          <p:cNvPr id="6" name="Text 4"/>
          <p:cNvSpPr/>
          <p:nvPr/>
        </p:nvSpPr>
        <p:spPr>
          <a:xfrm>
            <a:off x="4414310" y="5734956"/>
            <a:ext cx="926753" cy="557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spc="72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66759" y="6915975"/>
            <a:ext cx="9181621" cy="44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sesión se retoma a las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15:40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Pipeline de desarrollo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2 · BLOQUE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759" y="3879475"/>
            <a:ext cx="4100865" cy="3006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8500" b="1" spc="-1425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5962528" y="3001796"/>
            <a:ext cx="11596473" cy="1903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desarrollo end-to-end.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962528" y="5333865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53037" y="5286240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Levantar el proyecto técnico: scaffold, stack y dependencias.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962528" y="5813903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53037" y="5766278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los agentes desarrolladores: tester, coder, documenter.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962528" y="6293941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53037" y="6246316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los prompts orquestadores: plan y run.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962528" y="6773980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53037" y="6726355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el pipeline completo sobre los TUCs aprobados.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962528" y="7530229"/>
            <a:ext cx="1636663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15:40 – 16:55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13491" y="7530229"/>
            <a:ext cx="196277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24068" y="7530229"/>
            <a:ext cx="796393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MIN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ANATOMÍA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fases del pipeline agéntico.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428943"/>
            <a:ext cx="7924827" cy="4191000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8264" y="2742361"/>
            <a:ext cx="700399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75799" y="2751020"/>
            <a:ext cx="126756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JUICIO HUMANO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418264" y="2970068"/>
            <a:ext cx="7438471" cy="45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418264" y="3614832"/>
            <a:ext cx="72218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18264" y="3813112"/>
            <a:ext cx="476209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989697" y="3756828"/>
            <a:ext cx="3336630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00566" y="3795794"/>
            <a:ext cx="3336700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business-analyst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418264" y="4110971"/>
            <a:ext cx="72218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18264" y="4309251"/>
            <a:ext cx="476209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989697" y="4252967"/>
            <a:ext cx="3336630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TUC, stack, ADR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00566" y="4291933"/>
            <a:ext cx="3336700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418264" y="5103249"/>
            <a:ext cx="72218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18264" y="4607110"/>
            <a:ext cx="72218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18264" y="4805389"/>
            <a:ext cx="476209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989697" y="4749105"/>
            <a:ext cx="3336630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00566" y="4788071"/>
            <a:ext cx="3336700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/plan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9296345" y="2428943"/>
            <a:ext cx="7924894" cy="4191000"/>
          </a:xfrm>
          <a:prstGeom prst="rect">
            <a:avLst/>
          </a:prstGeom>
          <a:solidFill>
            <a:srgbClr val="17171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7851" y="2742361"/>
            <a:ext cx="700399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405386" y="2751020"/>
            <a:ext cx="15424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TRABAJO MECÁNICO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9647851" y="2970068"/>
            <a:ext cx="7438541" cy="45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Autónoma</a:t>
            </a:r>
            <a:endParaRPr lang="en-US" sz="2850" dirty="0"/>
          </a:p>
        </p:txBody>
      </p:sp>
      <p:sp>
        <p:nvSpPr>
          <p:cNvPr id="26" name="Shape 24"/>
          <p:cNvSpPr/>
          <p:nvPr/>
        </p:nvSpPr>
        <p:spPr>
          <a:xfrm>
            <a:off x="9647851" y="3614832"/>
            <a:ext cx="722188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47851" y="3813112"/>
            <a:ext cx="476209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0219283" y="3756828"/>
            <a:ext cx="3336700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en rojo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630220" y="3795794"/>
            <a:ext cx="3336700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9647851" y="4110971"/>
            <a:ext cx="722188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47851" y="4309251"/>
            <a:ext cx="476209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0219283" y="4252967"/>
            <a:ext cx="3336700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hasta verde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630220" y="4291933"/>
            <a:ext cx="3336700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coder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9647851" y="5103249"/>
            <a:ext cx="722188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647851" y="4607110"/>
            <a:ext cx="722188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647851" y="4805389"/>
            <a:ext cx="476209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0219283" y="4749105"/>
            <a:ext cx="3336700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630220" y="4788071"/>
            <a:ext cx="3336700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documenter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066759" y="6990524"/>
            <a:ext cx="988449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12345" y="6921252"/>
            <a:ext cx="12563961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requiere juicio humano queda interactivo. Lo que es mecánico se automatiza. La spec aprobada es el contrato entre ambas fases.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del proyecto y scaffold pre-armado.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2467029"/>
            <a:ext cx="7277793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66759" y="2789986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66759" y="2931982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3.11+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75841" y="2931982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base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66759" y="3281795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66759" y="3423791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DuckDB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75841" y="3423791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consulta sobre parquet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066759" y="3773605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6759" y="3915600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75841" y="3915600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066759" y="4265414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66759" y="4407409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Pandas, Pyarrow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75841" y="4407409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manipulación de datos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066759" y="4757223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66759" y="4899219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Pytest, Pandera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75841" y="4899219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y validación de schema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066759" y="5740842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6759" y="5249033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66759" y="5391028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75841" y="5391028"/>
            <a:ext cx="3560438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y format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8742163" y="2467029"/>
            <a:ext cx="873344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ESTRUCTURA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742163" y="2789986"/>
            <a:ext cx="8479076" cy="2709822"/>
          </a:xfrm>
          <a:prstGeom prst="roundRect">
            <a:avLst>
              <a:gd name="adj" fmla="val 2812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17496" y="3008154"/>
            <a:ext cx="7813064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workshop-2/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017496" y="3332938"/>
            <a:ext cx="7813064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data/sap_dict.parquet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dataset listo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017496" y="3657722"/>
            <a:ext cx="7813064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esqueleto Streamlit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017496" y="3982505"/>
            <a:ext cx="7813064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carpeta vacía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017496" y="4307289"/>
            <a:ext cx="7813064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    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dependencias fijadas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017496" y="4632072"/>
            <a:ext cx="7813064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pyproject.toml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config Ruff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017496" y="4956856"/>
            <a:ext cx="7813064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docs/,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.github/,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material/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6764135" y="2904245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385" y="2999495"/>
            <a:ext cx="152346" cy="152346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8742163" y="5766481"/>
            <a:ext cx="8479076" cy="1198202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7" name="Shape 34"/>
          <p:cNvSpPr/>
          <p:nvPr/>
        </p:nvSpPr>
        <p:spPr>
          <a:xfrm>
            <a:off x="8742163" y="6956023"/>
            <a:ext cx="8479076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8742163" y="5766481"/>
            <a:ext cx="8479076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8742163" y="5766481"/>
            <a:ext cx="25977" cy="119820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0" name="Shape 37"/>
          <p:cNvSpPr/>
          <p:nvPr/>
        </p:nvSpPr>
        <p:spPr>
          <a:xfrm>
            <a:off x="17212580" y="5766481"/>
            <a:ext cx="9525" cy="119820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9015737" y="5984649"/>
            <a:ext cx="81877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FUERA DEL ALCANCE</a:t>
            </a:r>
            <a:endParaRPr lang="en-US" sz="975" dirty="0"/>
          </a:p>
        </p:txBody>
      </p:sp>
      <p:sp>
        <p:nvSpPr>
          <p:cNvPr id="42" name="Text 39"/>
          <p:cNvSpPr/>
          <p:nvPr/>
        </p:nvSpPr>
        <p:spPr>
          <a:xfrm>
            <a:off x="9015737" y="6203697"/>
            <a:ext cx="8187725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la estructura, elegir versiones o configurar herramientas. El tiempo del bloque se concentra en el flujo agéntico.</a:t>
            </a:r>
            <a:endParaRPr lang="en-US" sz="1425" dirty="0"/>
          </a:p>
        </p:txBody>
      </p:sp>
      <p:sp>
        <p:nvSpPr>
          <p:cNvPr id="43" name="Text 40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759" y="952500"/>
            <a:ext cx="1144488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09" y="1047750"/>
            <a:ext cx="953988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248" y="1355148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248" y="952500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009" y="952500"/>
            <a:ext cx="9525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598" y="1056409"/>
            <a:ext cx="844261" cy="24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03/ 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774" y="952500"/>
            <a:ext cx="185266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759" y="1706653"/>
            <a:ext cx="13735050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del proyecto e instalación de dependencias.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759" y="3350865"/>
            <a:ext cx="43167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759" y="3673822"/>
            <a:ext cx="4316730" cy="1474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Levantar el entorno Python local, instalar dependencias y validar que la aplicación esqueleto arranca en el navegador.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759" y="5452994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DURACIÓN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66759" y="5691119"/>
            <a:ext cx="43167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943519" y="3350865"/>
            <a:ext cx="11616053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519" y="375003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355" y="3765622"/>
            <a:ext cx="3118885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activar el entorno virtual: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648355" y="4130116"/>
            <a:ext cx="10572885" cy="1085904"/>
          </a:xfrm>
          <a:prstGeom prst="roundRect">
            <a:avLst>
              <a:gd name="adj" fmla="val 7017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3687" y="4348284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BC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venv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923687" y="4673068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.venv\Scripts\Activate.ps1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6764135" y="4244375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385" y="4339625"/>
            <a:ext cx="152346" cy="15234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43519" y="536840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648355" y="5383992"/>
            <a:ext cx="3275661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política bloquea Activate.ps1: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6648355" y="5748486"/>
            <a:ext cx="10572885" cy="1085904"/>
          </a:xfrm>
          <a:prstGeom prst="roundRect">
            <a:avLst>
              <a:gd name="adj" fmla="val 7017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23687" y="5966654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Set-ExecutionPolicy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BC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-Scope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BC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-ExecutionPolicy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Bypass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6923687" y="6291438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.venv\Scripts\Activate.ps1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16764135" y="5862746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385" y="5957996"/>
            <a:ext cx="152346" cy="15234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943519" y="698677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648355" y="7002363"/>
            <a:ext cx="2184824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dependencias:</a:t>
            </a:r>
            <a:endParaRPr lang="en-US" sz="1650" dirty="0"/>
          </a:p>
        </p:txBody>
      </p:sp>
      <p:sp>
        <p:nvSpPr>
          <p:cNvPr id="32" name="Shape 28"/>
          <p:cNvSpPr/>
          <p:nvPr/>
        </p:nvSpPr>
        <p:spPr>
          <a:xfrm>
            <a:off x="6648355" y="7366857"/>
            <a:ext cx="10572885" cy="1085904"/>
          </a:xfrm>
          <a:prstGeom prst="roundRect">
            <a:avLst>
              <a:gd name="adj" fmla="val 7017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923687" y="7585025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BC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pip install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BC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--upgrade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pip</a:t>
            </a:r>
            <a:endParaRPr lang="en-US" sz="1650" dirty="0"/>
          </a:p>
        </p:txBody>
      </p:sp>
      <p:sp>
        <p:nvSpPr>
          <p:cNvPr id="34" name="Text 30"/>
          <p:cNvSpPr/>
          <p:nvPr/>
        </p:nvSpPr>
        <p:spPr>
          <a:xfrm>
            <a:off x="6923687" y="7909808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pip install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BC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requirements.txt</a:t>
            </a:r>
            <a:endParaRPr lang="en-US" sz="1650" dirty="0"/>
          </a:p>
        </p:txBody>
      </p:sp>
      <p:sp>
        <p:nvSpPr>
          <p:cNvPr id="35" name="Shape 31"/>
          <p:cNvSpPr/>
          <p:nvPr/>
        </p:nvSpPr>
        <p:spPr>
          <a:xfrm>
            <a:off x="16764135" y="7481116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385" y="7576366"/>
            <a:ext cx="152346" cy="15234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943519" y="8605147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8" name="Text 33"/>
          <p:cNvSpPr/>
          <p:nvPr/>
        </p:nvSpPr>
        <p:spPr>
          <a:xfrm>
            <a:off x="6648355" y="8586097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las herramientas instaladas: streamlit, pytest, ruff, duckdb.</a:t>
            </a:r>
            <a:endParaRPr lang="en-US" sz="1650" dirty="0"/>
          </a:p>
        </p:txBody>
      </p:sp>
      <p:sp>
        <p:nvSpPr>
          <p:cNvPr id="39" name="Text 34"/>
          <p:cNvSpPr/>
          <p:nvPr/>
        </p:nvSpPr>
        <p:spPr>
          <a:xfrm>
            <a:off x="5943519" y="9042364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6648355" y="9057950"/>
            <a:ext cx="3143760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Levantar la aplicación esqueleto:</a:t>
            </a:r>
            <a:endParaRPr lang="en-US" sz="1650" dirty="0"/>
          </a:p>
        </p:txBody>
      </p:sp>
      <p:sp>
        <p:nvSpPr>
          <p:cNvPr id="41" name="Shape 36"/>
          <p:cNvSpPr/>
          <p:nvPr/>
        </p:nvSpPr>
        <p:spPr>
          <a:xfrm>
            <a:off x="6648355" y="9422443"/>
            <a:ext cx="10572885" cy="761121"/>
          </a:xfrm>
          <a:prstGeom prst="roundRect">
            <a:avLst>
              <a:gd name="adj" fmla="val 10012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923687" y="9640612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streamlit run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650" dirty="0"/>
          </a:p>
        </p:txBody>
      </p:sp>
      <p:sp>
        <p:nvSpPr>
          <p:cNvPr id="43" name="Shape 38"/>
          <p:cNvSpPr/>
          <p:nvPr/>
        </p:nvSpPr>
        <p:spPr>
          <a:xfrm>
            <a:off x="16764135" y="9536703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385" y="9631953"/>
            <a:ext cx="152346" cy="152346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5943519" y="10488324"/>
            <a:ext cx="11277721" cy="85542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46" name="Shape 40"/>
          <p:cNvSpPr/>
          <p:nvPr/>
        </p:nvSpPr>
        <p:spPr>
          <a:xfrm>
            <a:off x="5943519" y="11335088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7" name="Shape 41"/>
          <p:cNvSpPr/>
          <p:nvPr/>
        </p:nvSpPr>
        <p:spPr>
          <a:xfrm>
            <a:off x="5943519" y="10488324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8" name="Shape 42"/>
          <p:cNvSpPr/>
          <p:nvPr/>
        </p:nvSpPr>
        <p:spPr>
          <a:xfrm>
            <a:off x="5943519" y="10488324"/>
            <a:ext cx="25977" cy="85542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9" name="Shape 43"/>
          <p:cNvSpPr/>
          <p:nvPr/>
        </p:nvSpPr>
        <p:spPr>
          <a:xfrm>
            <a:off x="17212580" y="10488324"/>
            <a:ext cx="9525" cy="85542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0" name="Text 44"/>
          <p:cNvSpPr/>
          <p:nvPr/>
        </p:nvSpPr>
        <p:spPr>
          <a:xfrm>
            <a:off x="6179005" y="10668406"/>
            <a:ext cx="111487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975" dirty="0"/>
          </a:p>
        </p:txBody>
      </p:sp>
      <p:sp>
        <p:nvSpPr>
          <p:cNvPr id="51" name="Text 45"/>
          <p:cNvSpPr/>
          <p:nvPr/>
        </p:nvSpPr>
        <p:spPr>
          <a:xfrm>
            <a:off x="6179005" y="10887453"/>
            <a:ext cx="11148788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típicos: política de PowerShell, versión de Python (requiere 3.11+), proxy corporativo bloqueando pip.</a:t>
            </a:r>
            <a:endParaRPr lang="en-US" sz="1500" dirty="0"/>
          </a:p>
        </p:txBody>
      </p:sp>
      <p:sp>
        <p:nvSpPr>
          <p:cNvPr id="52" name="Text 46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53" name="Text 47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858156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543406" y="952500"/>
            <a:ext cx="175403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06· AGENTES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66759" y="2314616"/>
            <a:ext cx="14912340" cy="69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Traduce los criterios de aceptación (AC y TAC) en suites de tests ejecutables. Los tests constituyen el contrato de verificación entre la spec y el código.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066759" y="3390846"/>
            <a:ext cx="59798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COMPORTAMIENTO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66759" y="3695632"/>
            <a:ext cx="4572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581096" y="3667057"/>
            <a:ext cx="5450123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UCs en docs/uc/ y TUCs en docs/tuc/.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066759" y="4062291"/>
            <a:ext cx="4572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581096" y="4033716"/>
            <a:ext cx="5450123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tests de forma autónoma; no requiere input adicional del usuario.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066759" y="4700357"/>
            <a:ext cx="4572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581096" y="4671782"/>
            <a:ext cx="5450123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Unitarios para TACs (lógica en aislamiento); integración para ACs (flujo completo).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066759" y="5338424"/>
            <a:ext cx="4572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581096" y="5309849"/>
            <a:ext cx="5450123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tests se escriben en rojo: verifican el comportamiento sin asumir que la implementación existe.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329650" y="3390846"/>
            <a:ext cx="4983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RESTRICCIONES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7329650" y="3676582"/>
            <a:ext cx="285709" cy="29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4409" y="3667057"/>
            <a:ext cx="4669373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modifica código de producción.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7329650" y="4053185"/>
            <a:ext cx="285709" cy="553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4409" y="4043660"/>
            <a:ext cx="4669373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ejecuta los tests; esa responsabilidad recae en el coder.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7329650" y="4692131"/>
            <a:ext cx="285709" cy="553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4409" y="4682606"/>
            <a:ext cx="4669373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criterio es ambiguo, lo registra como brecha y continúa.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624954" y="3390846"/>
            <a:ext cx="4734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2624954" y="3667057"/>
            <a:ext cx="4596286" cy="969818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62200" y="3866216"/>
            <a:ext cx="424544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Carpeta tests/ organizada por TUC, con archivos test_*.py listos para ejecución.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624954" y="4827375"/>
            <a:ext cx="4596286" cy="457173"/>
          </a:xfrm>
          <a:prstGeom prst="rect">
            <a:avLst/>
          </a:prstGeom>
          <a:solidFill>
            <a:srgbClr val="0A0A0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24113" y="4969384"/>
            <a:ext cx="4335856" cy="21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</a:t>
            </a:r>
            <a:pPr algn="l" indent="0" marL="0">
              <a:buNone/>
            </a:pPr>
            <a:r>
              <a:rPr lang="en-US" sz="1200" dirty="0">
                <a:solidFill>
                  <a:srgbClr val="A8A8A3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material/agents/TESTER.md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858156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543406" y="952500"/>
            <a:ext cx="175403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06· AGENTES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66759" y="2314616"/>
            <a:ext cx="14912340" cy="366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el código de producción mínimo que haga pasar los tests escritos por el tester. Ciclo red-green-refactor sobre un alcance acotado.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066759" y="3062274"/>
            <a:ext cx="59798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COMPORTAMIENTO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66759" y="3367060"/>
            <a:ext cx="4572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581096" y="3338485"/>
            <a:ext cx="5450123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los tests en rojo del alcance.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066759" y="3733719"/>
            <a:ext cx="4572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581096" y="3705144"/>
            <a:ext cx="5450123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el mínimo código que los hace pasar.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066759" y="4100377"/>
            <a:ext cx="4572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581096" y="4071802"/>
            <a:ext cx="5450123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la suite completa para no romper lo existente.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066759" y="4467035"/>
            <a:ext cx="4572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581096" y="4438460"/>
            <a:ext cx="5450123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Repite el ciclo hasta dejar la suite en verde.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329650" y="3062274"/>
            <a:ext cx="4983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RESTRICCIONES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7329650" y="3348010"/>
            <a:ext cx="285709" cy="29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4409" y="3338485"/>
            <a:ext cx="4669373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modifica tests para hacerlos pasar.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7329650" y="3724613"/>
            <a:ext cx="285709" cy="29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4409" y="3715088"/>
            <a:ext cx="4669373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agrega funcionalidad fuera de los criterios.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7329650" y="4101216"/>
            <a:ext cx="285709" cy="29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4409" y="4091691"/>
            <a:ext cx="4669373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bloquea tres veces en lo mismo, escala al usuario.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624954" y="3062274"/>
            <a:ext cx="4734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2624954" y="3338485"/>
            <a:ext cx="4596286" cy="982807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62200" y="3537645"/>
            <a:ext cx="4245448" cy="622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en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módulos asociados. Suite en verde, format y lint sin hallazgos.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624954" y="4511792"/>
            <a:ext cx="4596286" cy="457173"/>
          </a:xfrm>
          <a:prstGeom prst="rect">
            <a:avLst/>
          </a:prstGeom>
          <a:solidFill>
            <a:srgbClr val="0A0A0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24113" y="4653801"/>
            <a:ext cx="4335856" cy="21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</a:t>
            </a:r>
            <a:pPr algn="l" indent="0" marL="0">
              <a:buNone/>
            </a:pPr>
            <a:r>
              <a:rPr lang="en-US" sz="1200" dirty="0">
                <a:solidFill>
                  <a:srgbClr val="A8A8A3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material/agents/CODER.md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858156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543406" y="952500"/>
            <a:ext cx="175403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06· AGENTES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@documenter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66759" y="2314616"/>
            <a:ext cx="14912340" cy="69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Mantiene README.md actualizado al cierre de cada milestone. Fuente de verdad: artefactos del repositorio — UCs, TUCs, ADRs, stack e historial de commits.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066759" y="3390846"/>
            <a:ext cx="59798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COMPORTAMIENTO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66759" y="3695632"/>
            <a:ext cx="4572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581096" y="3667057"/>
            <a:ext cx="5450123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el milestone actual revisando commits desde el último tag.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066759" y="4333699"/>
            <a:ext cx="457200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581096" y="4305124"/>
            <a:ext cx="5450123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Recopila UCs, TUCs, stack y ADRs aceptados.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066759" y="4700357"/>
            <a:ext cx="4572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581096" y="4671782"/>
            <a:ext cx="5450123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 README con estructura fija: Descripción, Stack, Arquitectura, Funcionalidades, Instalación, Uso, Estado.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066759" y="5338424"/>
            <a:ext cx="457200" cy="55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581096" y="5309849"/>
            <a:ext cx="5450123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falta información, deja un placeholder explícito (&lt;!-- completar: motivo --&gt;).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329650" y="3390846"/>
            <a:ext cx="4983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RESTRICCIONES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7329650" y="3676582"/>
            <a:ext cx="285709" cy="29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4409" y="3667057"/>
            <a:ext cx="4669373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modifica código ni specs.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7329650" y="4053185"/>
            <a:ext cx="285709" cy="29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4409" y="4043660"/>
            <a:ext cx="4669373" cy="30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solicita aprobación: escribe directo sobre README.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7329650" y="4429788"/>
            <a:ext cx="285709" cy="553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4409" y="4420263"/>
            <a:ext cx="4669373" cy="56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detecta inconsistencias, las registra en una sección "Brechas detectadas".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624954" y="3390846"/>
            <a:ext cx="4734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2624954" y="3667057"/>
            <a:ext cx="4596286" cy="969818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62200" y="3866216"/>
            <a:ext cx="424544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actualizado y, cuando corresponde, sección </a:t>
            </a:r>
            <a:pPr algn="l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Brechas detectadas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624954" y="4827375"/>
            <a:ext cx="4596286" cy="457173"/>
          </a:xfrm>
          <a:prstGeom prst="rect">
            <a:avLst/>
          </a:prstGeom>
          <a:solidFill>
            <a:srgbClr val="0A0A0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24113" y="4969384"/>
            <a:ext cx="4335856" cy="21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</a:t>
            </a:r>
            <a:pPr algn="l" indent="0" marL="0">
              <a:buNone/>
            </a:pPr>
            <a:r>
              <a:rPr lang="en-US" sz="1200" dirty="0">
                <a:solidFill>
                  <a:srgbClr val="A8A8A3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material/agents/DOCUMENTER.md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ORQUESTACIÓN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orquestadores del pipeline.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467029"/>
            <a:ext cx="7962913" cy="4095750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8264" y="2780447"/>
            <a:ext cx="74777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418264" y="3056659"/>
            <a:ext cx="7477700" cy="49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418264" y="3644598"/>
            <a:ext cx="7477700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el plan de implementación a partir de las specs aprobadas.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418264" y="4201783"/>
            <a:ext cx="285709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723024" y="4173208"/>
            <a:ext cx="716379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UCs y TUCs; identifica pendientes y brechas.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418264" y="4568441"/>
            <a:ext cx="285709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723024" y="4539866"/>
            <a:ext cx="716379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Descompone en tareas: tests → código → documentación.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418264" y="4935100"/>
            <a:ext cx="285709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723024" y="4906525"/>
            <a:ext cx="716379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IDs y registra dependencias entre tareas.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418264" y="5301758"/>
            <a:ext cx="285709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723024" y="5273183"/>
            <a:ext cx="716379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 aprobación antes de guardar en docs/plans/.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258259" y="2467029"/>
            <a:ext cx="7962981" cy="4095750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9764" y="2780447"/>
            <a:ext cx="74777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2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609764" y="3056659"/>
            <a:ext cx="7477770" cy="49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/run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609764" y="3644598"/>
            <a:ext cx="7477770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el plan aprobado end-to-end delegando en agentes.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9609764" y="4201783"/>
            <a:ext cx="285709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914524" y="4173208"/>
            <a:ext cx="716386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 la próxima tarea con dependencias satisfechas.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609764" y="4568441"/>
            <a:ext cx="285709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9914524" y="4539866"/>
            <a:ext cx="716386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 al agente correspondiente.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609764" y="4935100"/>
            <a:ext cx="285709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914524" y="4906525"/>
            <a:ext cx="716386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el resultado en la sección de seguimiento del plan.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609764" y="5301758"/>
            <a:ext cx="285709" cy="28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914524" y="5273183"/>
            <a:ext cx="7163868" cy="309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tarea falla tres veces, escala con causa raíz.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066759" y="6867538"/>
            <a:ext cx="15430500" cy="736361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42091" y="7198275"/>
            <a:ext cx="18645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15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DOS PROMPTS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3263733" y="7120343"/>
            <a:ext cx="1050224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planear de ejecutar. El plan es revisable antes de gastar ciclos del agente. Si el plan está mal, falla barato.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759" y="952500"/>
            <a:ext cx="1144488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09" y="1047750"/>
            <a:ext cx="953988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248" y="1355148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248" y="952500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009" y="952500"/>
            <a:ext cx="9525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598" y="1056409"/>
            <a:ext cx="844261" cy="24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04/ 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774" y="952500"/>
            <a:ext cx="185266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759" y="1706653"/>
            <a:ext cx="13735050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 los agentes y prompts del pipeline.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759" y="3350865"/>
            <a:ext cx="43167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759" y="3673822"/>
            <a:ext cx="4316730" cy="1474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Dejar disponibles en .github/agents/ y .github/prompts/ los cinco agentes y los dos prompts orquestadores requeridos para ejecutar el pipeline.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759" y="5452994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DURACIÓN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66759" y="5691119"/>
            <a:ext cx="43167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943519" y="3350865"/>
            <a:ext cx="11616053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519" y="375003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355" y="3765622"/>
            <a:ext cx="3827098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los tres agentes desarrolladores: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648355" y="4130116"/>
            <a:ext cx="10572885" cy="1410688"/>
          </a:xfrm>
          <a:prstGeom prst="roundRect">
            <a:avLst>
              <a:gd name="adj" fmla="val 5402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3687" y="4348284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material\agents\TESTER.md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.github\agents\tester.md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923687" y="4673068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material\agents\CODER.md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.github\agents\coder.md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923687" y="4997851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material\agents\DOCUMENTER.md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.github\agents\documenter.md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6764135" y="4244375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385" y="4339625"/>
            <a:ext cx="152346" cy="15234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943519" y="5693190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648355" y="5708776"/>
            <a:ext cx="3311128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los prompts orquestadores: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6648355" y="6073269"/>
            <a:ext cx="10572885" cy="1085904"/>
          </a:xfrm>
          <a:prstGeom prst="roundRect">
            <a:avLst>
              <a:gd name="adj" fmla="val 7017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23687" y="6291438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material\prompts\plan.prompt.md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.github\prompts\plan.prompt.md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6923687" y="6616222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material\prompts\run.prompt.md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.github\prompts\run.prompt.md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6764135" y="6187529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385" y="6282779"/>
            <a:ext cx="152346" cy="15234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943519" y="7311560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6648355" y="7292510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Reiniciar el panel de Copilot Chat.</a:t>
            </a:r>
            <a:endParaRPr lang="en-US" sz="1650" dirty="0"/>
          </a:p>
        </p:txBody>
      </p:sp>
      <p:sp>
        <p:nvSpPr>
          <p:cNvPr id="33" name="Text 29"/>
          <p:cNvSpPr/>
          <p:nvPr/>
        </p:nvSpPr>
        <p:spPr>
          <a:xfrm>
            <a:off x="5943519" y="774877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6648355" y="7729726"/>
            <a:ext cx="10890071" cy="363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@tester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@coder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@documenter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aparezcan en la lista de agentes.</a:t>
            </a:r>
            <a:endParaRPr lang="en-US" sz="1650" dirty="0"/>
          </a:p>
        </p:txBody>
      </p:sp>
      <p:sp>
        <p:nvSpPr>
          <p:cNvPr id="35" name="Text 31"/>
          <p:cNvSpPr/>
          <p:nvPr/>
        </p:nvSpPr>
        <p:spPr>
          <a:xfrm>
            <a:off x="5943519" y="8207641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6648355" y="8188591"/>
            <a:ext cx="10890071" cy="363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/run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aparezcan en la lista de prompts.</a:t>
            </a:r>
            <a:endParaRPr lang="en-US" sz="1650" dirty="0"/>
          </a:p>
        </p:txBody>
      </p:sp>
      <p:sp>
        <p:nvSpPr>
          <p:cNvPr id="37" name="Shape 33"/>
          <p:cNvSpPr/>
          <p:nvPr/>
        </p:nvSpPr>
        <p:spPr>
          <a:xfrm>
            <a:off x="5943519" y="8818878"/>
            <a:ext cx="11277721" cy="85542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8" name="Shape 34"/>
          <p:cNvSpPr/>
          <p:nvPr/>
        </p:nvSpPr>
        <p:spPr>
          <a:xfrm>
            <a:off x="5943519" y="9665642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5943519" y="8818878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5943519" y="8818878"/>
            <a:ext cx="25977" cy="85542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1" name="Shape 37"/>
          <p:cNvSpPr/>
          <p:nvPr/>
        </p:nvSpPr>
        <p:spPr>
          <a:xfrm>
            <a:off x="17212580" y="8818878"/>
            <a:ext cx="9525" cy="85542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6179005" y="8998960"/>
            <a:ext cx="111487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975" dirty="0"/>
          </a:p>
        </p:txBody>
      </p:sp>
      <p:sp>
        <p:nvSpPr>
          <p:cNvPr id="43" name="Text 39"/>
          <p:cNvSpPr/>
          <p:nvPr/>
        </p:nvSpPr>
        <p:spPr>
          <a:xfrm>
            <a:off x="6179005" y="9218008"/>
            <a:ext cx="11148788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.github/agents/ debe quedar con cinco agentes activos y .github/prompts/ con tres prompts (incluyendo los del Bloque 1).</a:t>
            </a:r>
            <a:endParaRPr lang="en-US" sz="1500" dirty="0"/>
          </a:p>
        </p:txBody>
      </p:sp>
      <p:sp>
        <p:nvSpPr>
          <p:cNvPr id="44" name="Text 40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45" name="Text 41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RECAPITULACIÓN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completo, de UC a aplicación funcional.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314616"/>
            <a:ext cx="16154480" cy="3876567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178" y="2551861"/>
            <a:ext cx="15527644" cy="33674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6759" y="6419769"/>
            <a:ext cx="81429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QUIÉN DECIDE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066759" y="6638816"/>
            <a:ext cx="814299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aprueba UC, TUC y plan. El agente decide tests específicos, implementación y refactor.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15423" y="6419769"/>
            <a:ext cx="81429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TRAZABILIDAD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9315423" y="6638816"/>
            <a:ext cx="81429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commit referencia una tarea; cada tarea, un TAC; cada TAC, un AC.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759" y="952500"/>
            <a:ext cx="1144488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09" y="1047750"/>
            <a:ext cx="953988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248" y="1355148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248" y="952500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009" y="952500"/>
            <a:ext cx="9525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598" y="1056409"/>
            <a:ext cx="844261" cy="24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05/ 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774" y="952500"/>
            <a:ext cx="185266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759" y="1706653"/>
            <a:ext cx="137350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del pipeline end-to-end.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759" y="2776389"/>
            <a:ext cx="43167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759" y="3099346"/>
            <a:ext cx="4316730" cy="1474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el plan a partir de las specs aprobadas, ejecutarlo y obtener la aplicación funcional con tests verdes y README actualizado.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759" y="4878518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DURACIÓN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66759" y="5116643"/>
            <a:ext cx="43167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6759" y="5630980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66759" y="5850027"/>
            <a:ext cx="431673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funcional + tests verdes + README actualizado + plan completo en docs/plans/.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43519" y="2776389"/>
            <a:ext cx="11616053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519" y="3175559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355" y="3191146"/>
            <a:ext cx="1578890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el plan: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648355" y="3555639"/>
            <a:ext cx="10572885" cy="761121"/>
          </a:xfrm>
          <a:prstGeom prst="roundRect">
            <a:avLst>
              <a:gd name="adj" fmla="val 10012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3687" y="3773807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6764135" y="3669898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385" y="3765148"/>
            <a:ext cx="152346" cy="15234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943519" y="446914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648355" y="4450096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el plan que produce el agente y aprobar para que lo guarde en docs/plans/.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5943519" y="4906363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48355" y="4921949"/>
            <a:ext cx="2522664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el plan aprobado: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6648355" y="5286442"/>
            <a:ext cx="10572885" cy="761121"/>
          </a:xfrm>
          <a:prstGeom prst="roundRect">
            <a:avLst>
              <a:gd name="adj" fmla="val 10012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3687" y="5504611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/run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16764135" y="5400702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385" y="5495952"/>
            <a:ext cx="152346" cy="15234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943519" y="6199949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6648355" y="6180899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la secuencia: tester escribe tests → coder los hace pasar → documenter actualiza README.</a:t>
            </a:r>
            <a:endParaRPr lang="en-US" sz="1650" dirty="0"/>
          </a:p>
        </p:txBody>
      </p:sp>
      <p:sp>
        <p:nvSpPr>
          <p:cNvPr id="34" name="Text 30"/>
          <p:cNvSpPr/>
          <p:nvPr/>
        </p:nvSpPr>
        <p:spPr>
          <a:xfrm>
            <a:off x="5943519" y="663716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6648355" y="6618116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 un bloqueante, revisar la escalada, decidir y reanudar.</a:t>
            </a:r>
            <a:endParaRPr lang="en-US" sz="1650" dirty="0"/>
          </a:p>
        </p:txBody>
      </p:sp>
      <p:sp>
        <p:nvSpPr>
          <p:cNvPr id="36" name="Text 32"/>
          <p:cNvSpPr/>
          <p:nvPr/>
        </p:nvSpPr>
        <p:spPr>
          <a:xfrm>
            <a:off x="5943519" y="7074382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6648355" y="7089968"/>
            <a:ext cx="2843097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el resultado al cierre:</a:t>
            </a:r>
            <a:endParaRPr lang="en-US" sz="1650" dirty="0"/>
          </a:p>
        </p:txBody>
      </p:sp>
      <p:sp>
        <p:nvSpPr>
          <p:cNvPr id="38" name="Shape 34"/>
          <p:cNvSpPr/>
          <p:nvPr/>
        </p:nvSpPr>
        <p:spPr>
          <a:xfrm>
            <a:off x="6648355" y="7454462"/>
            <a:ext cx="10572885" cy="1735471"/>
          </a:xfrm>
          <a:prstGeom prst="roundRect">
            <a:avLst>
              <a:gd name="adj" fmla="val 4391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923687" y="7672631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pytest</a:t>
            </a:r>
            <a:endParaRPr lang="en-US" sz="1650" dirty="0"/>
          </a:p>
        </p:txBody>
      </p:sp>
      <p:sp>
        <p:nvSpPr>
          <p:cNvPr id="40" name="Text 36"/>
          <p:cNvSpPr/>
          <p:nvPr/>
        </p:nvSpPr>
        <p:spPr>
          <a:xfrm>
            <a:off x="6923687" y="7997414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ruff check .</a:t>
            </a:r>
            <a:endParaRPr lang="en-US" sz="1650" dirty="0"/>
          </a:p>
        </p:txBody>
      </p:sp>
      <p:sp>
        <p:nvSpPr>
          <p:cNvPr id="41" name="Text 37"/>
          <p:cNvSpPr/>
          <p:nvPr/>
        </p:nvSpPr>
        <p:spPr>
          <a:xfrm>
            <a:off x="6923687" y="8322198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ruff format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BC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--check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</a:t>
            </a:r>
            <a:endParaRPr lang="en-US" sz="1650" dirty="0"/>
          </a:p>
        </p:txBody>
      </p:sp>
      <p:sp>
        <p:nvSpPr>
          <p:cNvPr id="42" name="Text 38"/>
          <p:cNvSpPr/>
          <p:nvPr/>
        </p:nvSpPr>
        <p:spPr>
          <a:xfrm>
            <a:off x="6923687" y="8646982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streamlit run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650" dirty="0"/>
          </a:p>
        </p:txBody>
      </p:sp>
      <p:sp>
        <p:nvSpPr>
          <p:cNvPr id="43" name="Shape 39"/>
          <p:cNvSpPr/>
          <p:nvPr/>
        </p:nvSpPr>
        <p:spPr>
          <a:xfrm>
            <a:off x="16764135" y="7568722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385" y="7663972"/>
            <a:ext cx="152346" cy="152346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5943519" y="9494693"/>
            <a:ext cx="11277721" cy="85542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46" name="Shape 41"/>
          <p:cNvSpPr/>
          <p:nvPr/>
        </p:nvSpPr>
        <p:spPr>
          <a:xfrm>
            <a:off x="5943519" y="10341457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5943519" y="9494693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8" name="Shape 43"/>
          <p:cNvSpPr/>
          <p:nvPr/>
        </p:nvSpPr>
        <p:spPr>
          <a:xfrm>
            <a:off x="5943519" y="9494693"/>
            <a:ext cx="25977" cy="85542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9" name="Shape 44"/>
          <p:cNvSpPr/>
          <p:nvPr/>
        </p:nvSpPr>
        <p:spPr>
          <a:xfrm>
            <a:off x="17212580" y="9494693"/>
            <a:ext cx="9525" cy="85542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0" name="Text 45"/>
          <p:cNvSpPr/>
          <p:nvPr/>
        </p:nvSpPr>
        <p:spPr>
          <a:xfrm>
            <a:off x="6179005" y="9674775"/>
            <a:ext cx="111487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975" dirty="0"/>
          </a:p>
        </p:txBody>
      </p:sp>
      <p:sp>
        <p:nvSpPr>
          <p:cNvPr id="51" name="Text 46"/>
          <p:cNvSpPr/>
          <p:nvPr/>
        </p:nvSpPr>
        <p:spPr>
          <a:xfrm>
            <a:off x="6179005" y="9893823"/>
            <a:ext cx="11148788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se alcanza a completar el alcance, el snapshot en material/snapshots/post-bloque-2/ permite continuar al Bloque 3.</a:t>
            </a:r>
            <a:endParaRPr lang="en-US" sz="1500" dirty="0"/>
          </a:p>
        </p:txBody>
      </p:sp>
      <p:sp>
        <p:nvSpPr>
          <p:cNvPr id="52" name="Text 47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53" name="Text 48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de calidad entre etapas.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847150"/>
            <a:ext cx="1615448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759" y="2562279"/>
            <a:ext cx="21717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19432" y="2562279"/>
            <a:ext cx="1000710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92240" y="2562279"/>
            <a:ext cx="353187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QUIÉN LO APLICA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66759" y="3568222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66759" y="3108613"/>
            <a:ext cx="2171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619432" y="3065318"/>
            <a:ext cx="10007104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humana del UC / TUC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792240" y="3138920"/>
            <a:ext cx="3531870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66759" y="4289294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759" y="3829686"/>
            <a:ext cx="2171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619432" y="3786390"/>
            <a:ext cx="10007104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humana del plan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792240" y="3859993"/>
            <a:ext cx="3531870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66759" y="5010366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759" y="4550758"/>
            <a:ext cx="2171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619432" y="4507463"/>
            <a:ext cx="10007104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ACs y TACs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792240" y="4581065"/>
            <a:ext cx="3531870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 (autoverificación)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66759" y="5731439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66759" y="5271830"/>
            <a:ext cx="2171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619432" y="5228535"/>
            <a:ext cx="10007104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verdes + format + lint + seguridad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792240" y="5302137"/>
            <a:ext cx="3531870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66759" y="6452511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66759" y="5992902"/>
            <a:ext cx="2171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Documentación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619432" y="5949607"/>
            <a:ext cx="10007104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placeholders sin resolver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3792240" y="6023209"/>
            <a:ext cx="3531870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documenter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66759" y="6765929"/>
            <a:ext cx="15430500" cy="1124058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6759" y="7881329"/>
            <a:ext cx="1543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66759" y="6765929"/>
            <a:ext cx="1543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66759" y="6765929"/>
            <a:ext cx="25977" cy="112405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88600" y="6765929"/>
            <a:ext cx="9525" cy="112405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59410" y="7133061"/>
            <a:ext cx="9233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spc="15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359410" y="7046470"/>
            <a:ext cx="14480820" cy="59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"Listo" significa que el 100% de los criterios de aceptación están verificados y los cuatro gates del coder están en verde. Nada parcial cuenta como completo.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ANTI-PATRONES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frecuentes que erosionan la calidad del pipeline.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428943"/>
            <a:ext cx="16154480" cy="4408289"/>
          </a:xfrm>
          <a:prstGeom prst="rect">
            <a:avLst/>
          </a:prstGeom>
          <a:solidFill>
            <a:srgbClr val="FFFFFF">
              <a:alpha val="8000"/>
            </a:srgbClr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5418" y="2437602"/>
            <a:ext cx="5372695" cy="21907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1342091" y="2685197"/>
            <a:ext cx="49845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42091" y="2950991"/>
            <a:ext cx="4984530" cy="311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demasiado abierta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342091" y="3320017"/>
            <a:ext cx="4984530" cy="2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i="1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"Construye una API REST limpia."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342091" y="3680046"/>
            <a:ext cx="498453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participante recibe algo distinto. El agente inventa endpoints, contratos y reglas.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57584" y="2437602"/>
            <a:ext cx="5372763" cy="21907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6724258" y="2685197"/>
            <a:ext cx="4984599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4258" y="2950991"/>
            <a:ext cx="4984599" cy="311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Saltarse la planificación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6724258" y="3320017"/>
            <a:ext cx="4984599" cy="2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i="1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 /run sin plan aprobado.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724258" y="3680046"/>
            <a:ext cx="498459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improvisa orden y dependencias.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839818" y="2437602"/>
            <a:ext cx="5372695" cy="21907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12106491" y="2685197"/>
            <a:ext cx="49845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106491" y="2950991"/>
            <a:ext cx="4984530" cy="311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Confiar en la auto-declaración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2106491" y="3320017"/>
            <a:ext cx="4984530" cy="2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i="1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coder dice "tests verdes".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2106491" y="3680046"/>
            <a:ext cx="498453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nadie ejecutó la suite. Gate que ejecute pytest y capture el output.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75418" y="4637822"/>
            <a:ext cx="5372695" cy="21907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1342091" y="4885418"/>
            <a:ext cx="49845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42091" y="5151212"/>
            <a:ext cx="4984530" cy="311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Iterar prompts en vez de specs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342091" y="5520238"/>
            <a:ext cx="4984530" cy="2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i="1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Re-prompts cuando el output no convence.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342091" y="5880267"/>
            <a:ext cx="498453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Arreglar la spec; el output mejora aguas abajo.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57584" y="4637822"/>
            <a:ext cx="5372763" cy="21907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6724258" y="4885418"/>
            <a:ext cx="4984599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4258" y="5151212"/>
            <a:ext cx="4984599" cy="311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Acumular contexto sin limpiar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6724258" y="5520238"/>
            <a:ext cx="4984599" cy="2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i="1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50+ archivos abiertos en la sesión.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6724258" y="5880267"/>
            <a:ext cx="498459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se pierde. Contextos acotados por tarea.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839818" y="4637822"/>
            <a:ext cx="5372695" cy="21907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12106491" y="4885418"/>
            <a:ext cx="49845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106491" y="5151212"/>
            <a:ext cx="4984530" cy="311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como rubber-stamp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2106491" y="5520238"/>
            <a:ext cx="4984530" cy="2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i="1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Pasar el reviewer sin leer su informe.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2106491" y="5880267"/>
            <a:ext cx="498453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Tratar los hallazgos como tareas, no como avisos.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 DEL BLOQUE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lleva del Bloque 2.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4492986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759" y="4009024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105" y="3883467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Explorador SAP funcionando localmente.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759" y="5377836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759" y="4893875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81105" y="4768318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verdes con cobertura de los criterios de aceptación definidos en el UC.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66759" y="6262687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759" y="5778725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81105" y="5653168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actualizado a partir de los artefactos del repositorio.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66759" y="7147538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759" y="6663576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81105" y="6538020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agentes y tres prompts implementados y operativos en .github/.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66759" y="7548427"/>
            <a:ext cx="6857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981105" y="7422870"/>
            <a:ext cx="13774348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Trazabilidad: cada cambio de código se ancla a una tarea del plan y a un criterio de la spec.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917324" y="9783961"/>
            <a:ext cx="340303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DESARROLLO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2 · PAUSA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759" y="3177954"/>
            <a:ext cx="744979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66759" y="3639456"/>
            <a:ext cx="3055547" cy="278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0" b="1" spc="-96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0" dirty="0"/>
          </a:p>
        </p:txBody>
      </p:sp>
      <p:sp>
        <p:nvSpPr>
          <p:cNvPr id="6" name="Text 4"/>
          <p:cNvSpPr/>
          <p:nvPr/>
        </p:nvSpPr>
        <p:spPr>
          <a:xfrm>
            <a:off x="4414310" y="5734956"/>
            <a:ext cx="926753" cy="557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spc="72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66759" y="6915975"/>
            <a:ext cx="9254923" cy="44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sesión se retoma a las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17:10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Revisión y gobernanza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2 · BLOQUE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759" y="3879475"/>
            <a:ext cx="4100865" cy="3006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8500" b="1" spc="-1425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5962528" y="3241815"/>
            <a:ext cx="11596473" cy="1903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Revisión, seguridad y gobernanza.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962528" y="5573884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53037" y="5526259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y ejecutar code review agéntico sobre el código generado.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962528" y="6053922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53037" y="6006297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los riesgos de seguridad del código asistido por LLM.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962528" y="6533960"/>
            <a:ext cx="495286" cy="337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53037" y="6486335"/>
            <a:ext cx="959495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principios de gobernanza para el uso de agentes en EY.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962528" y="7290210"/>
            <a:ext cx="1636663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17:10 – 18:10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13491" y="7290210"/>
            <a:ext cx="196277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24068" y="7290210"/>
            <a:ext cx="796393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MIN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1305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agéntico: auditar el código que un agente acaba de producir.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3100969"/>
            <a:ext cx="838679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AUDITARLO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66759" y="3423926"/>
            <a:ext cx="814252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66759" y="3613506"/>
            <a:ext cx="457200" cy="609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581096" y="3584931"/>
            <a:ext cx="7857031" cy="63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puede declarar "tests verdes" sin haber implementado todo lo que la spec requiere.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1066759" y="4337325"/>
            <a:ext cx="814252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66759" y="4526905"/>
            <a:ext cx="457200" cy="30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581096" y="4498330"/>
            <a:ext cx="7857031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tests cubren lo definido como criterio; no cubren omisiones.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066759" y="5564074"/>
            <a:ext cx="814252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6759" y="4950700"/>
            <a:ext cx="814252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759" y="5140280"/>
            <a:ext cx="457200" cy="30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581096" y="5111705"/>
            <a:ext cx="7857031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inseguros pueden pasar todos los gates funcionales sin ser detectados.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066759" y="5877493"/>
            <a:ext cx="8142522" cy="1245962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6759" y="7114796"/>
            <a:ext cx="814252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66759" y="5877493"/>
            <a:ext cx="814252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6759" y="5877493"/>
            <a:ext cx="25977" cy="124596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0" name="Shape 18"/>
          <p:cNvSpPr/>
          <p:nvPr/>
        </p:nvSpPr>
        <p:spPr>
          <a:xfrm>
            <a:off x="9200622" y="5877493"/>
            <a:ext cx="9525" cy="124596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59410" y="6095662"/>
            <a:ext cx="780177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 DEL REVIEWER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359410" y="6333787"/>
            <a:ext cx="780177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de solo lectura. Produce un informe; el humano decide qué es bloqueante. La automatización está en detectar, no en aceptar.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18868" y="3100969"/>
            <a:ext cx="762444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 EJES DE AUDITORÍA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18868" y="3423926"/>
            <a:ext cx="7402373" cy="954056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75122" y="3642095"/>
            <a:ext cx="709655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01·CONFORMIDAD CON SPECS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75122" y="3869802"/>
            <a:ext cx="7096558" cy="328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contra UC y TUC.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9818868" y="4511319"/>
            <a:ext cx="7402373" cy="954056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75122" y="4729487"/>
            <a:ext cx="709655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02·CALIDAD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75122" y="4957194"/>
            <a:ext cx="7096558" cy="328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declaradas en copilot-instructions.md.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9818868" y="5598711"/>
            <a:ext cx="7402373" cy="954056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75122" y="5816879"/>
            <a:ext cx="709655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03·SEGURIDAD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75122" y="6044586"/>
            <a:ext cx="7096558" cy="328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Inyección, auth, secretos, criptografía, sesiones, dependencias, errores.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code-reviewer y prompt /code-review.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428943"/>
            <a:ext cx="7924827" cy="4369255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8264" y="2742361"/>
            <a:ext cx="74384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 · 06 / 06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418264" y="3018572"/>
            <a:ext cx="7438471" cy="49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@code-reviewer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418264" y="3730336"/>
            <a:ext cx="457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32601" y="3701761"/>
            <a:ext cx="69087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lectura. No modifica nada.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8264" y="4111336"/>
            <a:ext cx="4572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932601" y="4082761"/>
            <a:ext cx="69087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informe estructurado con hallazgos clasificados por severidad: Crítico, Alto, Medio, Bajo.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8264" y="4778086"/>
            <a:ext cx="457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932601" y="4749511"/>
            <a:ext cx="69087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hallazgo: archivo, línea, descripción, recomendación concreta.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8264" y="5159086"/>
            <a:ext cx="457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932601" y="5130511"/>
            <a:ext cx="69087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hay Críticos ni Altos, aprueba el alcance revisado.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8264" y="5644848"/>
            <a:ext cx="7438471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</a:t>
            </a:r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material/agents/CODE-REVIEWER.md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96345" y="2428943"/>
            <a:ext cx="7924894" cy="4369255"/>
          </a:xfrm>
          <a:prstGeom prst="rect">
            <a:avLst/>
          </a:prstGeom>
          <a:solidFill>
            <a:srgbClr val="17171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7851" y="2742361"/>
            <a:ext cx="743854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ORQUESTADOR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647851" y="3018572"/>
            <a:ext cx="7438541" cy="49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/code-review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647851" y="3730336"/>
            <a:ext cx="457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162187" y="3701761"/>
            <a:ext cx="69087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 al code-reviewer sobre el alcance indicado.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47851" y="4111336"/>
            <a:ext cx="4572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0162187" y="4082761"/>
            <a:ext cx="69087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hay hallazgos Críticos / Altos, construye un plan de corrección y solicita aprobación.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47851" y="4778086"/>
            <a:ext cx="4572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0162187" y="4749511"/>
            <a:ext cx="69087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 correcciones: coder (código), tester (tests), documenter (docs), architect (decisiones).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47851" y="5444836"/>
            <a:ext cx="457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162187" y="5416261"/>
            <a:ext cx="69087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Re-audita después de las correcciones.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7851" y="5825836"/>
            <a:ext cx="457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0162187" y="5797261"/>
            <a:ext cx="69087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tres iteraciones; si quedan hallazgos, escala con causa raíz.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47851" y="6311598"/>
            <a:ext cx="7438541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</a:t>
            </a:r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material/prompts/code-review.prompt.md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759" y="952500"/>
            <a:ext cx="1144488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09" y="1047750"/>
            <a:ext cx="953988" cy="258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248" y="1355148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248" y="952500"/>
            <a:ext cx="1043420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009" y="952500"/>
            <a:ext cx="9525" cy="41130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598" y="1056409"/>
            <a:ext cx="844261" cy="24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 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774" y="952500"/>
            <a:ext cx="185266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759" y="1706653"/>
            <a:ext cx="13735050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de /code-review sobre el código generado.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759" y="3350865"/>
            <a:ext cx="431673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759" y="3673822"/>
            <a:ext cx="4316730" cy="1833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el código producido por el pipeline, aplicar el ciclo de correcciones automatizado y dejar el alcance aprobado o con escalada documentada.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759" y="5812076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DURACIÓN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66759" y="6050201"/>
            <a:ext cx="43167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943519" y="3350865"/>
            <a:ext cx="11616053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519" y="375003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355" y="3765622"/>
            <a:ext cx="4043102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los artefactos a la ubicación activa: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648355" y="4130116"/>
            <a:ext cx="10572885" cy="1735471"/>
          </a:xfrm>
          <a:prstGeom prst="roundRect">
            <a:avLst>
              <a:gd name="adj" fmla="val 4391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3687" y="4348284"/>
            <a:ext cx="9969687" cy="68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material\agents\CODE-REVIEWER.md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.github\agents\code-reviewer.md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923687" y="4997851"/>
            <a:ext cx="9969687" cy="68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copy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material\prompts\code-review.prompt.md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.github\prompts\code-review.prompt.md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6764135" y="4244375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385" y="4339625"/>
            <a:ext cx="152346" cy="15234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43519" y="6017973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648355" y="5998923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Reiniciar el panel de Copilot Chat.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943519" y="6455190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648355" y="6470776"/>
            <a:ext cx="4390938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Invocar el prompt con alcance app.py y tests/: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6648355" y="6835269"/>
            <a:ext cx="10572885" cy="761121"/>
          </a:xfrm>
          <a:prstGeom prst="roundRect">
            <a:avLst>
              <a:gd name="adj" fmla="val 10012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23687" y="7053438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/code-review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6764135" y="6949529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385" y="7044779"/>
            <a:ext cx="152346" cy="15234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943519" y="7748776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6648355" y="7729726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el informe inicial e identificar hallazgos por severidad.</a:t>
            </a:r>
            <a:endParaRPr lang="en-US" sz="1650" dirty="0"/>
          </a:p>
        </p:txBody>
      </p:sp>
      <p:sp>
        <p:nvSpPr>
          <p:cNvPr id="33" name="Text 29"/>
          <p:cNvSpPr/>
          <p:nvPr/>
        </p:nvSpPr>
        <p:spPr>
          <a:xfrm>
            <a:off x="5943519" y="8185993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6648355" y="8166943"/>
            <a:ext cx="10890071" cy="34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hay Críticos o Altos: aprobar el plan de corrección y observar el ciclo de re-auditoría.</a:t>
            </a:r>
            <a:endParaRPr lang="en-US" sz="1650" dirty="0"/>
          </a:p>
        </p:txBody>
      </p:sp>
      <p:sp>
        <p:nvSpPr>
          <p:cNvPr id="35" name="Text 31"/>
          <p:cNvSpPr/>
          <p:nvPr/>
        </p:nvSpPr>
        <p:spPr>
          <a:xfrm>
            <a:off x="5943519" y="8623210"/>
            <a:ext cx="590536" cy="289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6648355" y="8638796"/>
            <a:ext cx="2471656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los gates al cierre:</a:t>
            </a:r>
            <a:endParaRPr lang="en-US" sz="1650" dirty="0"/>
          </a:p>
        </p:txBody>
      </p:sp>
      <p:sp>
        <p:nvSpPr>
          <p:cNvPr id="37" name="Shape 33"/>
          <p:cNvSpPr/>
          <p:nvPr/>
        </p:nvSpPr>
        <p:spPr>
          <a:xfrm>
            <a:off x="6648355" y="9003289"/>
            <a:ext cx="10572885" cy="1085904"/>
          </a:xfrm>
          <a:prstGeom prst="roundRect">
            <a:avLst>
              <a:gd name="adj" fmla="val 7017"/>
            </a:avLst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923687" y="9221458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pytest</a:t>
            </a:r>
            <a:endParaRPr lang="en-US" sz="1650" dirty="0"/>
          </a:p>
        </p:txBody>
      </p:sp>
      <p:sp>
        <p:nvSpPr>
          <p:cNvPr id="39" name="Text 35"/>
          <p:cNvSpPr/>
          <p:nvPr/>
        </p:nvSpPr>
        <p:spPr>
          <a:xfrm>
            <a:off x="6923687" y="9546242"/>
            <a:ext cx="9969687" cy="36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ruff check .</a:t>
            </a:r>
            <a:endParaRPr lang="en-US" sz="1650" dirty="0"/>
          </a:p>
        </p:txBody>
      </p:sp>
      <p:sp>
        <p:nvSpPr>
          <p:cNvPr id="40" name="Shape 36"/>
          <p:cNvSpPr/>
          <p:nvPr/>
        </p:nvSpPr>
        <p:spPr>
          <a:xfrm>
            <a:off x="16764135" y="9117549"/>
            <a:ext cx="342846" cy="342846"/>
          </a:xfrm>
          <a:prstGeom prst="roundRect">
            <a:avLst>
              <a:gd name="adj" fmla="val 11113"/>
            </a:avLst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385" y="9212799"/>
            <a:ext cx="152346" cy="152346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5943519" y="10393953"/>
            <a:ext cx="11277721" cy="85542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43" name="Shape 38"/>
          <p:cNvSpPr/>
          <p:nvPr/>
        </p:nvSpPr>
        <p:spPr>
          <a:xfrm>
            <a:off x="5943519" y="11240717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5943519" y="10393953"/>
            <a:ext cx="112777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5" name="Shape 40"/>
          <p:cNvSpPr/>
          <p:nvPr/>
        </p:nvSpPr>
        <p:spPr>
          <a:xfrm>
            <a:off x="5943519" y="10393953"/>
            <a:ext cx="25977" cy="85542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6" name="Shape 41"/>
          <p:cNvSpPr/>
          <p:nvPr/>
        </p:nvSpPr>
        <p:spPr>
          <a:xfrm>
            <a:off x="17212580" y="10393953"/>
            <a:ext cx="9525" cy="85542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7" name="Text 42"/>
          <p:cNvSpPr/>
          <p:nvPr/>
        </p:nvSpPr>
        <p:spPr>
          <a:xfrm>
            <a:off x="6179005" y="10574035"/>
            <a:ext cx="111487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975" dirty="0"/>
          </a:p>
        </p:txBody>
      </p:sp>
      <p:sp>
        <p:nvSpPr>
          <p:cNvPr id="48" name="Text 43"/>
          <p:cNvSpPr/>
          <p:nvPr/>
        </p:nvSpPr>
        <p:spPr>
          <a:xfrm>
            <a:off x="6179005" y="10793083"/>
            <a:ext cx="11148788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informe de review + correcciones aplicadas + alcance aprobado o escalada documentada.</a:t>
            </a:r>
            <a:endParaRPr lang="en-US" sz="1500" dirty="0"/>
          </a:p>
        </p:txBody>
      </p:sp>
      <p:sp>
        <p:nvSpPr>
          <p:cNvPr id="49" name="Text 44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50" name="Text 45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del código asistido por LLM.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467029"/>
            <a:ext cx="7962913" cy="1683043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1169" y="2723284"/>
            <a:ext cx="759531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61169" y="2970068"/>
            <a:ext cx="7595318" cy="323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Secretos en código y prompts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61169" y="3351000"/>
            <a:ext cx="7595318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incorporar API keys, tokens o credenciales en specs ni en el contexto del modelo. El template incluye .env en .gitignore.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258259" y="2467029"/>
            <a:ext cx="7962981" cy="1683043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52668" y="2723284"/>
            <a:ext cx="759538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52668" y="2970068"/>
            <a:ext cx="7595388" cy="323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Dependencias alucinadas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52668" y="3351000"/>
            <a:ext cx="7595388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puede sugerir paquetes inexistentes; un atacante registra ese nombre con código malicioso (slopsquatting). Validar contra el registry oficial antes de instalar.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066759" y="4378659"/>
            <a:ext cx="7962913" cy="1683043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1169" y="4634914"/>
            <a:ext cx="759531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61169" y="4881697"/>
            <a:ext cx="7595318" cy="323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clásicas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61169" y="5262630"/>
            <a:ext cx="7595318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injection, sanitización ausente, lógica de auth incompleta, deserialización insegura, manejo de archivos sin validar tipo y tamaño.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258259" y="4378659"/>
            <a:ext cx="7962981" cy="1683043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2668" y="4634914"/>
            <a:ext cx="759538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552668" y="4881697"/>
            <a:ext cx="7595388" cy="323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ciega en la spec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52668" y="5262630"/>
            <a:ext cx="7595388" cy="580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spec no menciona seguridad, el coder no la inventa. Por eso el TUC incluye una sección de seguridad obligatoria.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que sale al modelo y mecanismos de control.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2467029"/>
            <a:ext cx="7277793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SE ENVÍA A COPILOT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66759" y="2789986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66759" y="2960557"/>
            <a:ext cx="457200" cy="28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581096" y="2931982"/>
            <a:ext cx="6748026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explícitos formulados por el usuario.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6759" y="3341529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66759" y="3512100"/>
            <a:ext cx="457200" cy="28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581096" y="3483525"/>
            <a:ext cx="6748026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abiertos en el editor.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66759" y="3893073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6759" y="4063644"/>
            <a:ext cx="457200" cy="28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581096" y="4035069"/>
            <a:ext cx="6748026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workspace: selección, búsquedas, archivos referenciados.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66759" y="4996160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6759" y="4444616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66759" y="4615187"/>
            <a:ext cx="457200" cy="28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581096" y="4586612"/>
            <a:ext cx="6748026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la conversación.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66759" y="5347665"/>
            <a:ext cx="7065818" cy="146961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6759" y="6808616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66759" y="5347665"/>
            <a:ext cx="706581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6759" y="5347665"/>
            <a:ext cx="25977" cy="146961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23918" y="5347665"/>
            <a:ext cx="9525" cy="146961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40333" y="5565834"/>
            <a:ext cx="67320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E85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DE CLIENTE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340333" y="5784881"/>
            <a:ext cx="6732070" cy="852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fragmentos de código o datos de un cliente en el contexto del modelo equivale a una transferencia de información hacia el proveedor, sujeta al contrato vigente y a la clasificación de la información.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8742163" y="2467029"/>
            <a:ext cx="8733448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MECANISMOS EN COPILOT ENTERPRISE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42163" y="2789986"/>
            <a:ext cx="8479076" cy="993089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98419" y="3008154"/>
            <a:ext cx="8205563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exclusion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998419" y="3279157"/>
            <a:ext cx="82055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Excluir paths, archivos o repositorios completos del contexto del modelo.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742163" y="3916412"/>
            <a:ext cx="8479076" cy="993089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98419" y="4134580"/>
            <a:ext cx="8205563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residency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998419" y="4405583"/>
            <a:ext cx="82055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sobre dónde se procesan los prompts; relevante por contratos y regulación local.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742163" y="5042838"/>
            <a:ext cx="8479076" cy="1278839"/>
          </a:xfrm>
          <a:prstGeom prst="rect">
            <a:avLst/>
          </a:prstGeom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98419" y="5261006"/>
            <a:ext cx="8205563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Indemnización IP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998419" y="5532009"/>
            <a:ext cx="82055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contractual de Microsoft sobre la IP del código generado, sujeta a condiciones de uso.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742163" y="6641184"/>
            <a:ext cx="10174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15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TELEMETRÍA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8742163" y="6580570"/>
            <a:ext cx="8340391" cy="512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registra eventos de uso. Importa conocer qué se logea y por cuánto tiempo para responder a auditorías.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en profundidad.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467029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759" y="2685197"/>
            <a:ext cx="838200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133519" y="2784777"/>
            <a:ext cx="2747010" cy="63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con seguridad explícita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05278" y="2797766"/>
            <a:ext cx="12479440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sección de seguridad del TUC obliga a declarar autenticación, autorización, datos sensibles y rate limiting.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1066759" y="3588516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66759" y="3806685"/>
            <a:ext cx="838200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133519" y="3906264"/>
            <a:ext cx="2747010" cy="63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con casos negativos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05278" y="3919253"/>
            <a:ext cx="12479440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maliciosos, payloads de inyección y fuzzing básico sobre las fronteras del sistema.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066759" y="4710004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759" y="4928172"/>
            <a:ext cx="838200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133519" y="5027752"/>
            <a:ext cx="2747010" cy="335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como gate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05278" y="5040741"/>
            <a:ext cx="12479440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de seguridad ejecutado automáticamente antes de merge, con bloqueo en hallazgos Críticos.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066759" y="5561977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759" y="5780146"/>
            <a:ext cx="838200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2133519" y="5879725"/>
            <a:ext cx="2747010" cy="335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Escaneo automático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05278" y="5892714"/>
            <a:ext cx="12479440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Advanced Security, CodeQL y Dependabot integrados al pipeline de CI.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066759" y="7535438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6759" y="6413951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66759" y="6632119"/>
            <a:ext cx="838200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2133519" y="6731699"/>
            <a:ext cx="2747010" cy="63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humana de outputs ejecutables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05278" y="6744687"/>
            <a:ext cx="12479440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toca filesystem, red o shell pasa por revisión manual.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066759" y="7848857"/>
            <a:ext cx="15430500" cy="1124058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6759" y="8964256"/>
            <a:ext cx="1543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6759" y="7848857"/>
            <a:ext cx="1543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66759" y="7848857"/>
            <a:ext cx="25977" cy="112405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0" name="Shape 28"/>
          <p:cNvSpPr/>
          <p:nvPr/>
        </p:nvSpPr>
        <p:spPr>
          <a:xfrm>
            <a:off x="16488600" y="7848857"/>
            <a:ext cx="9525" cy="112405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59410" y="8215989"/>
            <a:ext cx="9233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spc="15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359410" y="8129398"/>
            <a:ext cx="14748386" cy="59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capa basta sola. El código generado por LLM hereda los riesgos del código humano más algunos propios. La defensa se construye en capas, como en cualquier sistema crítico.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GOBERNANZA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agentes y prompts son código del proyecto.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759" y="2467029"/>
            <a:ext cx="8005586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TRATAMIENTO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66759" y="2818561"/>
            <a:ext cx="285709" cy="30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90528" y="2789986"/>
            <a:ext cx="7672104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Viven en el repositorio bajo .github/.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66759" y="3251922"/>
            <a:ext cx="285709" cy="30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90528" y="3223347"/>
            <a:ext cx="7672104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vía pull request con revisión.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066759" y="3685282"/>
            <a:ext cx="285709" cy="30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0528" y="3656707"/>
            <a:ext cx="7672104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CODEOWNERS define quién aprueba modificaciones a cada agente.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066759" y="4118642"/>
            <a:ext cx="285709" cy="30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90528" y="4090067"/>
            <a:ext cx="7672104" cy="3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Versionados como cualquier otro artefacto del proyecto.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066759" y="4771091"/>
            <a:ext cx="8005586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 DE VIDA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66759" y="5094048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66759" y="5236044"/>
            <a:ext cx="1981200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Creación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00346" y="5236044"/>
            <a:ext cx="5807992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vía PR con aprobación de owners.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66759" y="5645592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66759" y="5787587"/>
            <a:ext cx="1981200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Mantenimiento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00346" y="5787587"/>
            <a:ext cx="5807992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con changelog explícito.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66759" y="6197135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66759" y="6339131"/>
            <a:ext cx="1981200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Deprecación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200346" y="6339131"/>
            <a:ext cx="5807992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 como deprecado con fecha de retiro.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66759" y="7300222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6759" y="6748679"/>
            <a:ext cx="777241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66759" y="6890674"/>
            <a:ext cx="1981200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00346" y="6890674"/>
            <a:ext cx="5807992" cy="31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Eliminado del repositorio activo y archivado en el historial.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448759" y="2467029"/>
            <a:ext cx="7772481" cy="4125989"/>
          </a:xfrm>
          <a:prstGeom prst="rect">
            <a:avLst/>
          </a:prstGeom>
          <a:solidFill>
            <a:srgbClr val="17171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6504" y="2856688"/>
            <a:ext cx="7124500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 PREGUNTAS PARA CADA AGENTE NUEVO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76504" y="3955513"/>
            <a:ext cx="691699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876504" y="3236809"/>
            <a:ext cx="647700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150" dirty="0"/>
          </a:p>
        </p:txBody>
      </p:sp>
      <p:sp>
        <p:nvSpPr>
          <p:cNvPr id="32" name="Text 30"/>
          <p:cNvSpPr/>
          <p:nvPr/>
        </p:nvSpPr>
        <p:spPr>
          <a:xfrm>
            <a:off x="10676591" y="3358036"/>
            <a:ext cx="6300410" cy="409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es el dueño?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876504" y="4911463"/>
            <a:ext cx="691699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876504" y="4192759"/>
            <a:ext cx="647700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150" dirty="0"/>
          </a:p>
        </p:txBody>
      </p:sp>
      <p:sp>
        <p:nvSpPr>
          <p:cNvPr id="35" name="Text 33"/>
          <p:cNvSpPr/>
          <p:nvPr/>
        </p:nvSpPr>
        <p:spPr>
          <a:xfrm>
            <a:off x="10676591" y="4313986"/>
            <a:ext cx="6300410" cy="409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actualiza?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9876504" y="5148709"/>
            <a:ext cx="647700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150" dirty="0"/>
          </a:p>
        </p:txBody>
      </p:sp>
      <p:sp>
        <p:nvSpPr>
          <p:cNvPr id="37" name="Text 35"/>
          <p:cNvSpPr/>
          <p:nvPr/>
        </p:nvSpPr>
        <p:spPr>
          <a:xfrm>
            <a:off x="10676591" y="5269936"/>
            <a:ext cx="6300410" cy="78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retira sin romper proyectos que lo usan?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GOBERNANZA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de spec a deploy.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428943"/>
            <a:ext cx="16154480" cy="1548218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4505" y="2818602"/>
            <a:ext cx="1143000" cy="543764"/>
          </a:xfrm>
          <a:prstGeom prst="rect">
            <a:avLst/>
          </a:prstGeom>
          <a:solidFill>
            <a:srgbClr val="0A0A0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74573" y="2960597"/>
            <a:ext cx="782863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-1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69905" y="3457615"/>
            <a:ext cx="66840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NEGOCIO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65642" y="2941114"/>
            <a:ext cx="2019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819538" y="2818602"/>
            <a:ext cx="1143000" cy="543764"/>
          </a:xfrm>
          <a:prstGeom prst="rect">
            <a:avLst/>
          </a:prstGeom>
          <a:solidFill>
            <a:srgbClr val="0A0A0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9607" y="2960597"/>
            <a:ext cx="782863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-1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94938" y="3457615"/>
            <a:ext cx="66840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TÉCNICO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90675" y="2941114"/>
            <a:ext cx="2019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144639" y="2818602"/>
            <a:ext cx="1143000" cy="543764"/>
          </a:xfrm>
          <a:prstGeom prst="rect">
            <a:avLst/>
          </a:prstGeom>
          <a:solidFill>
            <a:srgbClr val="0A0A0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4708" y="2960597"/>
            <a:ext cx="782863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-1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62320" y="3457615"/>
            <a:ext cx="58377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15776" y="2941114"/>
            <a:ext cx="2019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469673" y="2818602"/>
            <a:ext cx="1143000" cy="543764"/>
          </a:xfrm>
          <a:prstGeom prst="rect">
            <a:avLst/>
          </a:prstGeom>
          <a:solidFill>
            <a:srgbClr val="0A0A0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9741" y="2960597"/>
            <a:ext cx="782863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-1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87353" y="3457615"/>
            <a:ext cx="58377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40810" y="2941114"/>
            <a:ext cx="2019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794774" y="2818602"/>
            <a:ext cx="1245759" cy="543764"/>
          </a:xfrm>
          <a:prstGeom prst="rect">
            <a:avLst/>
          </a:prstGeom>
          <a:solidFill>
            <a:srgbClr val="0A0A0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4843" y="2960597"/>
            <a:ext cx="885622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-1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163867" y="3457615"/>
            <a:ext cx="58377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568670" y="2941114"/>
            <a:ext cx="2019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222635" y="2818602"/>
            <a:ext cx="1143000" cy="543764"/>
          </a:xfrm>
          <a:prstGeom prst="rect">
            <a:avLst/>
          </a:prstGeom>
          <a:solidFill>
            <a:srgbClr val="0A0A0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402703" y="2960597"/>
            <a:ext cx="782863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-1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455753" y="3457615"/>
            <a:ext cx="75296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893771" y="2941114"/>
            <a:ext cx="2019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547736" y="2818602"/>
            <a:ext cx="1245759" cy="543764"/>
          </a:xfrm>
          <a:prstGeom prst="rect">
            <a:avLst/>
          </a:prstGeom>
          <a:solidFill>
            <a:srgbClr val="0A0A0A"/>
          </a:solidFill>
          <a:ln w="8659">
            <a:solidFill>
              <a:srgbClr val="FFB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727804" y="2960597"/>
            <a:ext cx="885622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-1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874481" y="3457615"/>
            <a:ext cx="66840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6759" y="4358161"/>
            <a:ext cx="8386797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ESLABÓN REFERENCIA AL ANTERIOR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66759" y="4709693"/>
            <a:ext cx="2857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519" y="4681118"/>
            <a:ext cx="80728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TUC referencia el UC.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66759" y="5090693"/>
            <a:ext cx="2857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71519" y="5062118"/>
            <a:ext cx="80728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referencia TUCs y los desglosa en tareas.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66759" y="5471693"/>
            <a:ext cx="2857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71519" y="5443118"/>
            <a:ext cx="80728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referencia la tarea, en el mensaje o trailer.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66759" y="5852693"/>
            <a:ext cx="2857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371519" y="5824118"/>
            <a:ext cx="80728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enlaza commits con plan y specs.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66759" y="6233693"/>
            <a:ext cx="2857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71519" y="6205118"/>
            <a:ext cx="80728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registra el SHA y el plan ejecutado.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818868" y="4358161"/>
            <a:ext cx="762444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APLICACIÓN EN EY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8868" y="4681118"/>
            <a:ext cx="7624444" cy="658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trazabilidad es un requisito en engagements con auditoría. Este modelo la deja resuelta por construcción, en lugar de reconstruirla a posteriori.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9818868" y="5529776"/>
            <a:ext cx="2378544" cy="1270654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18027" y="5709858"/>
            <a:ext cx="205642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AUDITORÍA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018027" y="5915918"/>
            <a:ext cx="2056426" cy="5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→ regla de negocio en minutos.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12330749" y="5529776"/>
            <a:ext cx="2378544" cy="1270654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529907" y="5709858"/>
            <a:ext cx="205642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ATRIBUCIÓN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2529907" y="5915918"/>
            <a:ext cx="2056426" cy="742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asistido por IA marcado en commits y PRs.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14842629" y="5529776"/>
            <a:ext cx="2378544" cy="1270654"/>
          </a:xfrm>
          <a:prstGeom prst="rect">
            <a:avLst/>
          </a:prstGeom>
          <a:solidFill>
            <a:srgbClr val="17171A"/>
          </a:solidFill>
          <a:ln w="865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041788" y="5709858"/>
            <a:ext cx="205642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REPRODUCIBILIDAD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5041788" y="5915918"/>
            <a:ext cx="2056426" cy="742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deploy reconstruible desde la spec.</a:t>
            </a:r>
            <a:endParaRPr lang="en-US" sz="1275" dirty="0"/>
          </a:p>
        </p:txBody>
      </p:sp>
      <p:sp>
        <p:nvSpPr>
          <p:cNvPr id="55" name="Text 53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6639115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 DEL PROGRAMA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759" y="1337830"/>
            <a:ext cx="16639115" cy="67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prompt suelto al pipeline gobernado.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759" y="2838491"/>
            <a:ext cx="9112272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759" y="2562279"/>
            <a:ext cx="29715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DIMENSIÓN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180379" y="2562279"/>
            <a:ext cx="29715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· WORKSHOP 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293998" y="2562279"/>
            <a:ext cx="29715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AHORA · WORKSHOP 2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066759" y="3391793"/>
            <a:ext cx="911227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66759" y="3051450"/>
            <a:ext cx="2971584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solicitud al modelo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80379" y="2999495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"constrúyeme X"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93998" y="2999495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Especificar UC y TUC primero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66759" y="4185047"/>
            <a:ext cx="911227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759" y="3604752"/>
            <a:ext cx="2971584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aceptación de outputs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0379" y="3552798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el primer resultado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293998" y="3552798"/>
            <a:ext cx="2971584" cy="518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verifican criterios; reviewer audita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66759" y="4738349"/>
            <a:ext cx="911227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759" y="4398006"/>
            <a:ext cx="2971584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de trabajo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80379" y="4346052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efímera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293998" y="4346052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y prompts versionados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66759" y="5291651"/>
            <a:ext cx="911227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66759" y="4951309"/>
            <a:ext cx="2971584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80379" y="4899354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Inexistente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93998" y="4899354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→ plan → commit → deploy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66759" y="5844954"/>
            <a:ext cx="911227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66759" y="5504611"/>
            <a:ext cx="2971584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decisiones de arquitectura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80379" y="5452656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Implícitas en el código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93998" y="5452656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ADRs explícitos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66759" y="6398256"/>
            <a:ext cx="911227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66759" y="6057913"/>
            <a:ext cx="2971584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controles entre etapas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80379" y="6005959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gates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293998" y="6005959"/>
            <a:ext cx="2971584" cy="27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gates por etapa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712378" y="2428943"/>
            <a:ext cx="6704059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MADUREZ EN EL USO DE COPILOT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712378" y="2751899"/>
            <a:ext cx="650879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883801" y="2996925"/>
            <a:ext cx="1123950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1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2122051" y="2931982"/>
            <a:ext cx="1940069" cy="31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en línea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0712378" y="3375828"/>
            <a:ext cx="650879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883801" y="3620853"/>
            <a:ext cx="1123950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2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122051" y="3555910"/>
            <a:ext cx="1555349" cy="31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ad-hoc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0712378" y="3999756"/>
            <a:ext cx="650879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883801" y="4244781"/>
            <a:ext cx="1123950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3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2122051" y="4179838"/>
            <a:ext cx="2277909" cy="31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especializados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0712378" y="4623684"/>
            <a:ext cx="6508795" cy="632587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712378" y="5247612"/>
            <a:ext cx="650879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12378" y="4623684"/>
            <a:ext cx="650879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712378" y="4623684"/>
            <a:ext cx="25977" cy="632587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7" name="Text 45"/>
          <p:cNvSpPr/>
          <p:nvPr/>
        </p:nvSpPr>
        <p:spPr>
          <a:xfrm>
            <a:off x="10947864" y="4868709"/>
            <a:ext cx="1123950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4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2186114" y="4803766"/>
            <a:ext cx="3342414" cy="31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agénticos gobernados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5564513" y="4907675"/>
            <a:ext cx="13938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ESTAMOS AQUÍ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10712378" y="5561030"/>
            <a:ext cx="6704059" cy="628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participante se lleva un repositorio funcional con seis agentes, tres prompts orquestadores y una aplicación real. Transferible al lunes siguiente.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066759" y="9783961"/>
            <a:ext cx="243600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4011626" y="9783961"/>
            <a:ext cx="3305902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Y GOBERNANZA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759" y="952500"/>
            <a:ext cx="1814242" cy="23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350" spc="243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6530339" y="952500"/>
            <a:ext cx="767101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6759" y="3437321"/>
            <a:ext cx="15697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PREGUNTAS Y CIERRE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66759" y="4056446"/>
            <a:ext cx="15697200" cy="1828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5000" b="1" spc="-60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lnSpc>
                <a:spcPct val="94000"/>
              </a:lnSpc>
              <a:buNone/>
            </a:pPr>
            <a:r>
              <a:rPr lang="en-US" sz="15000" b="1" spc="-6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lnSpc>
                <a:spcPct val="94000"/>
              </a:lnSpc>
              <a:buNone/>
            </a:pPr>
            <a:r>
              <a:rPr lang="en-US" sz="15000" b="1" spc="-600" kern="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1066759" y="6304291"/>
            <a:ext cx="11772900" cy="43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abierto para consultas, comentarios y experiencias del workshop.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759" y="8994292"/>
            <a:ext cx="161544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759" y="9212460"/>
            <a:ext cx="2567447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 </a:t>
            </a:r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SDD · WORKSHOP 2 / 2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5720782" y="9212460"/>
            <a:ext cx="1576658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A8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PATRICIO RENNER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2026-05-19T17:55:46Z</dcterms:created>
  <dcterms:modified xsi:type="dcterms:W3CDTF">2026-05-19T17:55:46Z</dcterms:modified>
</cp:coreProperties>
</file>